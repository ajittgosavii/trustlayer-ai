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Segoe UI"/>
              </a:rPr>
              <a:t>CANADA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D"/>
                </a:solidFill>
                <a:latin typeface="Segoe UI"/>
              </a:rPr>
              <a:t>Enterprise AI Reliability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502920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Segoe UI"/>
              </a:rPr>
              <a:t>Detect  ·  Prevent  · 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The trust layer between your enterprise and AI.</a:t>
            </a:r>
          </a:p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Real-time hallucination detection across 8 industries,</a:t>
            </a:r>
          </a:p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8 LLM providers, and 4 compliance frameworks.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457200"/>
            <a:ext cx="5120640" cy="6126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457200"/>
            <a:ext cx="5120640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57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The 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051560"/>
            <a:ext cx="4754880" cy="74980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1051560"/>
            <a:ext cx="45720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106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Segoe UI"/>
              </a:rPr>
              <a:t>$67.4B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53895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Annual enterprise losses from AI hallucinations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947672"/>
            <a:ext cx="4754880" cy="74980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947672"/>
            <a:ext cx="45720" cy="7498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0025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9C12"/>
                </a:solidFill>
                <a:latin typeface="Segoe UI"/>
              </a:rPr>
              <a:t>$2.4M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3500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Average cost per critical incident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843784"/>
            <a:ext cx="4754880" cy="74980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2843784"/>
            <a:ext cx="45720" cy="7498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8986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9C12"/>
                </a:solidFill>
                <a:latin typeface="Segoe UI"/>
              </a:rPr>
              <a:t>77%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2461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Enterprise leaders concerned about hallucinations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739896"/>
            <a:ext cx="4754880" cy="74980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3739896"/>
            <a:ext cx="45720" cy="7498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794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Segoe UI"/>
              </a:rP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14223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TrustLayer hallucination catch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4636008"/>
            <a:ext cx="4754880" cy="74980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4636008"/>
            <a:ext cx="45720" cy="7498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4690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Segoe UI"/>
              </a:rPr>
              <a:t>&lt;100ms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503834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Real-time detection pipeline latency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5532120"/>
            <a:ext cx="4754880" cy="74980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0" y="5532120"/>
            <a:ext cx="457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55869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7AE60"/>
                </a:solidFill>
                <a:latin typeface="Segoe UI"/>
              </a:rPr>
              <a:t>&gt;400%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593445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Typical return on investment year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Built for the industries that cannot afford to get it wrong.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The AI Hallucination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Scale of the problem — why this cannot be ignored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74C3C"/>
                </a:solidFill>
                <a:latin typeface="Segoe UI"/>
              </a:rPr>
              <a:t>$67,400,000,000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Lost annually by enterprises due to AI hallucinations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31720"/>
            <a:ext cx="1152144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2743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2743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39C12"/>
                </a:solidFill>
                <a:latin typeface="Segoe UI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of enterprise leaders are
concerned about hallucinations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514600"/>
            <a:ext cx="2743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2514600"/>
            <a:ext cx="27432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74C3C"/>
                </a:solidFill>
                <a:latin typeface="Segoe UI"/>
              </a:rPr>
              <a:t>$2.4M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310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average cost of a single
critical hallucination incident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514600"/>
            <a:ext cx="2743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514600"/>
            <a:ext cx="2743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39C12"/>
                </a:solidFill>
                <a:latin typeface="Segoe UI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310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industry average AI
hallucination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514600"/>
            <a:ext cx="2743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514600"/>
            <a:ext cx="27432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74C3C"/>
                </a:solidFill>
                <a:latin typeface="Segoe UI"/>
              </a:rPr>
              <a:t>~30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31012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critical incidents per year for a
typical enterprise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2519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  <a:latin typeface="Segoe UI"/>
              </a:rPr>
              <a:t>HIGH-PROFILE INCIDENTS TIMELINE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17720"/>
            <a:ext cx="1152144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654296"/>
            <a:ext cx="640080" cy="2560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672583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634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Mata v. Avianca — Attorneys sanctioned for AI-fabricated case citations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01768"/>
            <a:ext cx="11521440" cy="338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038344"/>
            <a:ext cx="640080" cy="2560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56631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0474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Healthcare AI tools flagged for dangerous dosage recommendations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385816"/>
            <a:ext cx="1152144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422392"/>
            <a:ext cx="640080" cy="2560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440679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431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Banking chatbots guaranteeing mortgage terms that did not exist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769864"/>
            <a:ext cx="11521440" cy="338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806440"/>
            <a:ext cx="640080" cy="2560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824727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815583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EU AI Act passes — August 2026 enforcement deadline announced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153912"/>
            <a:ext cx="11521440" cy="33832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6190488"/>
            <a:ext cx="640080" cy="2560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20877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6199631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77% of enterprise leaders cite hallucinations as top AI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Real-World Hallucination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What happens when AI outputs go unverified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8064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4864" cy="2514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⚖ 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Fabricated Case Citations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Multiple attorneys sanctioned by federal courts for submitting AI-generated briefs containing case citations that do not exist. Some lost their bar licenses.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539496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59" y="27889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Mata v. Avianca (SDNY 2023) — landmark case that triggered global AI policy debate.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005840"/>
            <a:ext cx="58064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005840"/>
            <a:ext cx="54864" cy="2514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Segoe UI"/>
              </a:rPr>
              <a:t>🏥 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Dangerous Drug Dosing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5564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AI clinical tools recommended metformin starting at 1,000mg twice daily — double the FDA-approved 500mg starting dose. Also cited a grapefruit interaction with no clinical basis.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724912"/>
            <a:ext cx="539496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7889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Missed contraindication: Alcohol + metformin significantly increases lactic acidosis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03320"/>
            <a:ext cx="58064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54864" cy="25146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  <a:latin typeface="Segoe UI"/>
              </a:rPr>
              <a:t>🏦  BANKING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87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Fabricated Financial 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Customer-facing chatbots quoted specific mortgage rates (5.25% APR), referenced promotions that did not exist in any product database, and guaranteed 24-hour pre-approval.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422392"/>
            <a:ext cx="539496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59" y="54864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All three elements are regulatory violations — banks cannot legally make such guarantees.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3703320"/>
            <a:ext cx="58064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703320"/>
            <a:ext cx="54864" cy="2514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  <a:latin typeface="Segoe UI"/>
              </a:rPr>
              <a:t>🏛  GOVERNMENT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87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Unauthorized Determinations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5312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AI systems issued benefits eligibility determinations not grounded in policy, and cited non-existent regulatory guidance when questioned by applicants.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422392"/>
            <a:ext cx="5394960" cy="5486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79" y="54864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Citizens received incorrect benefit decisions based on fabricated policy interpretations.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Root Cause &amp; Market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Why this problem will not solve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Segoe UI"/>
              </a:rPr>
              <a:t>THE STRUCTURAL CONFLICT OF INTEREST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4864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providers (OpenAI, Google, Microsoft, Anthropic) have a fundamental commercial disincentive to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solve hallucination at the output layer. Publishing failure rates and detection methodologies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directly undermines confidence in their own products — reducing adoption and revenue.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They built the problem. They cannot be trusted to solve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Segoe UI"/>
              </a:rPr>
              <a:t>WHY EXISTING SOLUTIONS FAIL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0400"/>
            <a:ext cx="5577840" cy="7772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200400"/>
            <a:ext cx="4572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73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Segoe UI"/>
              </a:rPr>
              <a:t>Point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Address only narrow slices — citation checking OR bias detection, not both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3200400"/>
            <a:ext cx="5577840" cy="7772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59" y="3200400"/>
            <a:ext cx="4572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273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Segoe UI"/>
              </a:rPr>
              <a:t>Governance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Define policies but cannot actually detect hallucinations in real-time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14800"/>
            <a:ext cx="5577840" cy="7772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114800"/>
            <a:ext cx="4572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87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Segoe UI"/>
              </a:rPr>
              <a:t>Provider Safety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988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Designed for content moderation, not factual accuracy verification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4114800"/>
            <a:ext cx="5577840" cy="7772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59" y="4114800"/>
            <a:ext cx="4572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187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Segoe UI"/>
              </a:rPr>
              <a:t>Custom In-House Builds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4988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6–12 month build, $500K+, and ongoing maintenance burden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66360"/>
            <a:ext cx="11521440" cy="11887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166360"/>
            <a:ext cx="54864" cy="11887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30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FF"/>
                </a:solidFill>
                <a:latin typeface="Segoe UI"/>
              </a:rPr>
              <a:t>THE MARKET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778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No platform today combines real-time detection + automated prevention + governance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infrastructure in a single, LLM-agnostic, enterprise-grade solution.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That gap is exactly what TrustLayer AI fills.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TrustLayer AI —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The enterprise trust layer between your business and any AI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606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User
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Any channel:
chat, API,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6187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6060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058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LLM
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459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OpenAI, Anthropic,
Google, Azure…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26187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005840"/>
            <a:ext cx="2606040" cy="10058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10058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TrustLayer
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16459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Intercept · Analyze
Score ·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26187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6FF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19" y="1005840"/>
            <a:ext cx="2606040" cy="10058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0058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Verified
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6459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Delivered or
blocked/flagged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40280"/>
            <a:ext cx="3749039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240280"/>
            <a:ext cx="3749039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240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Confidence ≥ 75%
Risk Score &lt;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1012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Response is verified and reliable.
Delivered directly to the user.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36576" cy="43891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59" y="42793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Accuracy confirmed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36592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736592"/>
            <a:ext cx="36576" cy="43891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59" y="48097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Latency &lt; 100ms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66944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266944"/>
            <a:ext cx="36576" cy="43891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59" y="53400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Full audit logged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2240280"/>
            <a:ext cx="3749039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2240280"/>
            <a:ext cx="3749039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59" y="2240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FLAG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Segoe UI"/>
              </a:rPr>
              <a:t>Confidence 50–74%
Risk Score 30–59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31012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Response is uncertain.
Routed to a human reviewer before delivery.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206240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4206240"/>
            <a:ext cx="36576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79" y="42793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Review queue created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4736592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4736592"/>
            <a:ext cx="36576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79" y="48097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Reviewer notified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5266944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5266944"/>
            <a:ext cx="36576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79" y="53400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SLA tracked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2240280"/>
            <a:ext cx="3749039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2240280"/>
            <a:ext cx="3749039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79" y="2240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BLOCK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Confidence &lt; 50%
Risk Score ≥ 60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31012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Response is dangerous or unverifiable.
Blocked; fallback action triggered automatically.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4206240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1040" y="4206240"/>
            <a:ext cx="36576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58200" y="42793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User protected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736592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21040" y="4736592"/>
            <a:ext cx="36576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8200" y="48097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Incident logged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5266944"/>
            <a:ext cx="3474720" cy="43891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5266944"/>
            <a:ext cx="36576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8200" y="53400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Compliance flagged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Request interception → parallel detection → scored decision →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960120"/>
            <a:ext cx="1463040" cy="82296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0515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6FF"/>
                </a:solidFill>
                <a:latin typeface="Segoe UI"/>
              </a:rPr>
              <a:t>ENTERPRISE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2057400"/>
            <a:ext cx="1463040" cy="82296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21488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894"/>
                </a:solidFill>
                <a:latin typeface="Segoe UI"/>
              </a:rPr>
              <a:t>TRUSTLAYER GATEWAY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3154680"/>
            <a:ext cx="1463040" cy="82296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32461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39C12"/>
                </a:solidFill>
                <a:latin typeface="Segoe UI"/>
              </a:rPr>
              <a:t>DETECTION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4800600"/>
            <a:ext cx="1463040" cy="82296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48920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E44AD"/>
                </a:solidFill>
                <a:latin typeface="Segoe UI"/>
              </a:rPr>
              <a:t>DATA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5806440"/>
            <a:ext cx="1463040" cy="82296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5897879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AE60"/>
                </a:solidFill>
                <a:latin typeface="Segoe UI"/>
              </a:rPr>
              <a:t>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960120"/>
            <a:ext cx="32004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Enterprise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Chatbots  ·  Copilots  ·  Internal Tools  ·  APIs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960120"/>
            <a:ext cx="320040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LLM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OpenAI · Anthropic · Google · Azure · AWS · Mistral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6FF"/>
                </a:solidFill>
                <a:latin typeface="Segoe UI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1783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6FF"/>
                </a:solidFill>
                <a:latin typeface="Segoe U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2057400"/>
            <a:ext cx="7178040" cy="86868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91640" y="2057400"/>
            <a:ext cx="717804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2148840"/>
            <a:ext cx="7178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TrustLayer API Gateway  —  Zero-code interception; LLM-agnostic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94"/>
                </a:solidFill>
                <a:latin typeface="Segoe U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3154680"/>
            <a:ext cx="71780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91640" y="3154680"/>
            <a:ext cx="7178040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3246120"/>
            <a:ext cx="7178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Detection Engine  (8 algorithms in parallel)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Semantic
Entropy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0904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0904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Self-
Consistency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38728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8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Citation
Verify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6552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2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Enterprise
Grounding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94376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94376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Claim
Extraction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Pattern
Recognition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0024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50024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Temporal
Check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27848" y="3657600"/>
            <a:ext cx="804672" cy="9144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3703320"/>
            <a:ext cx="804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Segoe UI"/>
              </a:rPr>
              <a:t>Numerical
Validation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154680"/>
            <a:ext cx="27432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26880" y="3154680"/>
            <a:ext cx="2743200" cy="91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E44AD"/>
                </a:solidFill>
                <a:latin typeface="Segoe UI"/>
              </a:rPr>
              <a:t>Data Sources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35844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CRM / Product Catalog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38039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Policy Databases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4023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Legal Repositories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42428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FDA / Clinical DBs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4622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Market Data Feeds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E44AD"/>
                </a:solidFill>
                <a:latin typeface="Segoe UI"/>
              </a:rPr>
              <a:t>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  <a:latin typeface="Segoe UI"/>
              </a:rPr>
              <a:t>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91640" y="5029200"/>
            <a:ext cx="7178040" cy="658368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91640" y="5120640"/>
            <a:ext cx="717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BD5E1"/>
                </a:solidFill>
                <a:latin typeface="Segoe UI"/>
              </a:rPr>
              <a:t>Scoring Model  →  Confidence Score (0–100)  +  Risk Score (0–100)  →  Pass / Flag / Block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0640" y="5687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  <a:latin typeface="Segoe UI"/>
              </a:rPr>
              <a:t>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91640" y="5961888"/>
            <a:ext cx="22860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91640" y="5961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PASS → User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0600" y="5961888"/>
            <a:ext cx="274320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0600" y="596188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FLAG → Human Review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79" y="5961888"/>
            <a:ext cx="256032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26679" y="59618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BLOCK → Fallback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26880" y="5029200"/>
            <a:ext cx="2743200" cy="14813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894"/>
                </a:solidFill>
                <a:latin typeface="Segoe UI"/>
              </a:rPr>
              <a:t>Audit &amp; Compliance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54132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Immutable audit log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0" y="56235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Compliance tagging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8338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Dashboard reporting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20" y="60441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Auto-documentation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8320" y="62544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· Incident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Detection Engine — 8-Technique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Parallel algorithms targeting distinct LLM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47472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058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005840"/>
            <a:ext cx="100584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005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05840"/>
            <a:ext cx="91440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1005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005840"/>
            <a:ext cx="5486400" cy="365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Failure Mode Targeted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417320"/>
            <a:ext cx="347472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1417320"/>
            <a:ext cx="100584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417320"/>
            <a:ext cx="914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1417320"/>
            <a:ext cx="5486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1508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Semantic Entropy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87%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1508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45ms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1508760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Internal model uncertainty; knowledge boundary violations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984248"/>
            <a:ext cx="347472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0" y="1984248"/>
            <a:ext cx="100584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1984248"/>
            <a:ext cx="914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1984248"/>
            <a:ext cx="5486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207568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Self-Consistency Checking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20756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82%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20756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120ms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2075688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Cross-query contradictions and logical inconsistencies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551176"/>
            <a:ext cx="347472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0" y="2551176"/>
            <a:ext cx="100584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2551176"/>
            <a:ext cx="914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2160" y="2551176"/>
            <a:ext cx="5486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264261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Source Citation Verification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26426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95%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264261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200ms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5312" y="2642616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URLs, case citations, document references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118104"/>
            <a:ext cx="347472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0480" y="3118104"/>
            <a:ext cx="100584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2040" y="3118104"/>
            <a:ext cx="914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160" y="3118104"/>
            <a:ext cx="5486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320954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Enterprise Knowledge Grounding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98%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320954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150ms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3209544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Claims contradicting authoritative enterprise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685032"/>
            <a:ext cx="347472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0" y="3685032"/>
            <a:ext cx="100584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92040" y="3685032"/>
            <a:ext cx="914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52160" y="3685032"/>
            <a:ext cx="5486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37764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Claim Extraction &amp; Classification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86200" y="3776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59" y="37764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35ms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25312" y="3776472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High-risk assertion types: financial, medical, legal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251960"/>
            <a:ext cx="347472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0" y="4251960"/>
            <a:ext cx="100584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92040" y="4251960"/>
            <a:ext cx="914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52160" y="4251960"/>
            <a:ext cx="5486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79" y="4343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Hallucination Pattern Recognition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86200" y="4343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79%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59" y="4343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25ms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25312" y="4343400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Known LLM failure signatures from curated datasets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818888"/>
            <a:ext cx="347472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0480" y="4818888"/>
            <a:ext cx="100584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92040" y="4818888"/>
            <a:ext cx="914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52160" y="4818888"/>
            <a:ext cx="54864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79" y="4910327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Temporal Consistency Checking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86200" y="491032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93%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59" y="4910327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40ms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25312" y="4910327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Outdated or temporally incoherent information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385816"/>
            <a:ext cx="347472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40480" y="5385816"/>
            <a:ext cx="100584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892040" y="5385816"/>
            <a:ext cx="914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52160" y="5385816"/>
            <a:ext cx="5486400" cy="521207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79" y="5477255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Numerical Claim Validation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86200" y="547725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96%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59" y="5477255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  <a:latin typeface="Segoe UI"/>
              </a:rPr>
              <a:t>80ms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25312" y="5477255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rates, dosages, thresholds, percentages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989320"/>
            <a:ext cx="11521440" cy="6400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6053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92%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6373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Overall catch rate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20439" y="6053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&lt;3%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20439" y="6373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False positive rate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6053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&lt;100ms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6373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Pipeline latency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81159" y="6053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99.9%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81159" y="6373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Platform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Detection Deep-Dive — Two Highest-Accuracy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Enterprise Grounding (98%) and Source Citation Verification (95%)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6692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66928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Enterprise Knowledge Grounding  —  98%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What it does: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Extracts all factual claims from the AI response — prices, product specs,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policies, personnel details, inventory, rates — and validates each claim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against your live authoritative data sources in real-time.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How it works: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1. NLP claim extraction identifies all verifiable assertions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2. Each claim is mapped to the relevant enterprise data source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3. Real-time API call to CRM / ERP / policy DB / product catalog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4. Response score drops for every unverified or contradicted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Why 98% accuracy: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Unlike probabilistic approaches, grounding compares against ground truth.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If the AI says '5.25% APR' and the product DB says '6.1% APR', that is a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definitive failure — no ambiguity, no false positives.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66360"/>
            <a:ext cx="1280160" cy="2926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150ms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5166360"/>
            <a:ext cx="2286000" cy="29260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1846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Requires enterprise connector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5166360"/>
            <a:ext cx="155448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51846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Highest value technique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005840"/>
            <a:ext cx="553212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005840"/>
            <a:ext cx="5532120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005840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Source Citation Verification  —  95%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600200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What it does: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Extracts every citation, URL, case reference, statute, document name,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and publication the AI response mentions — then attempts real-time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verification of each one against indexed databases.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5349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Verification sources: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· Legal:     Westlaw, LexisNexis, CourtListener, Federal Register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· Medical:   PubMed, FDA databases, clinical guidelines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· Web:       Real-time URL resolution and content matching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· Academic:  CrossRef, DOI lookup, JSTOR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6908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Real example — Legal hallucination: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AI cited "Morrison v. Tesla Motors, 9th Cir. 2023" as precedent.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TrustLayer searched Westlaw, LexisNexis, CourtListener.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Case does not exist. Confidence dropped to 4%. Response BLOCKED.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Attorney saved from potential sanctions and bar discipline.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5166360"/>
            <a:ext cx="1280160" cy="2926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200ms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5166360"/>
            <a:ext cx="1828800" cy="29260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5184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Real-time API lookups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5166360"/>
            <a:ext cx="192024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51846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Critical for Legal &amp; Medical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Scoring Model &amp;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How 8 technique scores combine into a single Pass / Flag / Block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4864" cy="14630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FF"/>
                </a:solidFill>
                <a:latin typeface="Segoe UI"/>
              </a:rPr>
              <a:t>Confidence Score  =  weighted_average(8 technique scores)  ×  grounding_multiplier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Segoe UI"/>
              </a:rPr>
              <a:t>Risk Score  =  severity_weight  ×  (1 − confidence)  ×  domain_risk_factor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836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domain_risk_factor is higher for Healthcare and Legal (life / liberty at stake)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060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DECISION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71800"/>
            <a:ext cx="1371600" cy="36576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2971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971800"/>
            <a:ext cx="1645920" cy="36576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971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971800"/>
            <a:ext cx="1645920" cy="36576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971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Risk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971800"/>
            <a:ext cx="6400800" cy="36576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59" y="29718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Outcome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83280"/>
            <a:ext cx="1371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7360" y="3383280"/>
            <a:ext cx="164592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383280"/>
            <a:ext cx="164592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3383280"/>
            <a:ext cx="64008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383280"/>
            <a:ext cx="1371600" cy="62179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474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≥ 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520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&lt;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35204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Response delivered immediately to 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371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37360" y="4069080"/>
            <a:ext cx="16459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4069080"/>
            <a:ext cx="164592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0" y="4069080"/>
            <a:ext cx="6400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069080"/>
            <a:ext cx="1371600" cy="6217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160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FLAG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50–74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206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30–59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42062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Queued for human review; SLA tracked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754880"/>
            <a:ext cx="1371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37360" y="4754880"/>
            <a:ext cx="164592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29000" y="4754880"/>
            <a:ext cx="164592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0640" y="4754880"/>
            <a:ext cx="64008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754880"/>
            <a:ext cx="1371600" cy="6217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BLOCK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892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&lt; 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4892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≥ 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48920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Response blocked; fallback triggered; incident logged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532120"/>
            <a:ext cx="11521440" cy="10058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532120"/>
            <a:ext cx="54864" cy="10058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Segoe UI"/>
              </a:rPr>
              <a:t>Latency Guarantee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8978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Total TrustLayer overhead: &lt; 100ms (8 techniques run in parallel, not sequentially)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API Gateway routing: &lt;2ms  |  Detection engine: &lt;80ms  |  Scoring &amp; decision: &lt;5ms  |  Delivery: &lt;5ms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Industry Modules — 8 Specialized Verticals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Generic detection is not enough. Each industry has distinct risk profiles and data 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788920" cy="43891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BFSI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Banking &amp; Financial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74519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rates, unauthorized eligibility, regulatory disclosures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078992"/>
            <a:ext cx="804672" cy="2743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10972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00584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005840"/>
            <a:ext cx="278892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0058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508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Clinical &amp; Administrative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874519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Drug dosing errors, dangerous contraindications, unauthorized approvals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078992"/>
            <a:ext cx="804672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0972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2788920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058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Legal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1508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Litigation &amp;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1874519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citations, non-existent statutes, unauthorized determinations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078992"/>
            <a:ext cx="804672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10972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00584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005840"/>
            <a:ext cx="2788920" cy="43891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0058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5087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HR &amp; IT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874519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HR policies, incorrect IT guidance, process hallucinations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55680" y="1078992"/>
            <a:ext cx="804672" cy="274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0" y="10972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2608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926080"/>
            <a:ext cx="2788920" cy="43891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9260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Manufacturing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34290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Quality &amp; 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3794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Fabricated QC records, ISO certification claims, spec violations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2999232"/>
            <a:ext cx="804672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40280" y="301752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292608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2926080"/>
            <a:ext cx="278892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29260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Retail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34290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Product &amp; Pricing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794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Unverified pricing, inventory errors, promotional term fabrication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2999232"/>
            <a:ext cx="804672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301752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92608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2926080"/>
            <a:ext cx="2788920" cy="438912"/>
          </a:xfrm>
          <a:prstGeom prst="rect">
            <a:avLst/>
          </a:prstGeom>
          <a:solidFill>
            <a:srgbClr val="27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9260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Telecom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79" y="34290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Billing &amp; Account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79" y="3794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Unauthorized account actions, billing errors, plan misrepresentation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79" y="2999232"/>
            <a:ext cx="804672" cy="274320"/>
          </a:xfrm>
          <a:prstGeom prst="rect">
            <a:avLst/>
          </a:prstGeom>
          <a:solidFill>
            <a:srgbClr val="27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79" y="301752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2926080"/>
            <a:ext cx="27889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2926080"/>
            <a:ext cx="278892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29260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Government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34290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Benefits &amp; Policy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3794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Unauthorized eligibility, policy misinterpretation, regulatory fabrication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155680" y="2999232"/>
            <a:ext cx="804672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5680" y="301752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MODULE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892040"/>
            <a:ext cx="11521440" cy="1691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0040" y="4892040"/>
            <a:ext cx="54864" cy="16916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956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Every module includes: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5303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→  Industry-specific risk models: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55595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     Pre-trained on domain hallucination datasets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5303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→  Pre-built compliance rule sets: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55595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     Maps to relevant regulations per vertical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5870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→  Enterprise system integrations: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126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     Pre-built connectors to authoritative data sources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870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→  Domain-specific scoring weights: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6126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     Higher penalties for life-safety critical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BFSI Module — Banking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Step-by-step: how TrustLayer catches a mortgage 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STEP 1 — Customer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1521440" cy="65836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"What is the current interest rate for a 30-year fixed mortgage, and am I pre-approved?"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84831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STEP 2 — Raw LLM Response (before TrustLayer)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11521440" cy="91440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95728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11155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"Great news! Our current rate for a 30-year fixed mortgage is 5.25% APR.</a:t>
            </a:r>
          </a:p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As an existing customer, you qualify for our Spring Promotion with 0.5% rate reduction.</a:t>
            </a:r>
          </a:p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Based on your profile, you are guaranteed pre-approval within 24 hours."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41071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Segoe UI"/>
              </a:rPr>
              <a:t>STEP 3 — TrustLayer Detection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9039"/>
            <a:ext cx="115214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749039"/>
            <a:ext cx="3657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Segoe UI"/>
              </a:rPr>
              <a:t>Fabricated Rate: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794759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5.25% APR does not exist in live pricing feed — actual rate is 6.85%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33087"/>
            <a:ext cx="11521440" cy="34747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133087"/>
            <a:ext cx="3657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Segoe UI"/>
              </a:rPr>
              <a:t>Non-existent Promotion: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78807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"Spring Promotion" not found in marketing database (0 records)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17136"/>
            <a:ext cx="115214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517136"/>
            <a:ext cx="36576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628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Segoe UI"/>
              </a:rPr>
              <a:t>Illegal Guarantee: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562855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Banks cannot legally guarantee approval — violates TILA / Reg 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01183"/>
            <a:ext cx="11521440" cy="34747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01183"/>
            <a:ext cx="36576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4690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Segoe UI"/>
              </a:rPr>
              <a:t>Fiduciary Violation: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946903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Providing specific rate advice without disclosures required by law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85231"/>
            <a:ext cx="115214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285231"/>
            <a:ext cx="36576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3095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Segoe UI"/>
              </a:rPr>
              <a:t>Unsupported Claim: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330951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Profile assessment made without access to applicant credit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715000"/>
            <a:ext cx="11521440" cy="8686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FD"/>
                </a:solidFill>
                <a:latin typeface="Segoe UI"/>
              </a:rPr>
              <a:t>STEP 4 —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760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6144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Confidence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760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94%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6144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Risk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760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BLOCKED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6144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5760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Specialist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6144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Segoe UI"/>
              </a:rPr>
              <a:t>Routed 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Healthcare Module — Drug Dosing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 single incorrect AI response here can be life-threatening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Clinical Query: "What is the correct starting dose of metformin for a newly-diagnosed Type 2 diabetic?"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5564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AI RESPONSE — 3 DANGEROUS ERRORS DETECTED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75688"/>
            <a:ext cx="11521440" cy="109728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"Start at 1,000mg twice daily. Take with grapefruit juice to enhance absorption.</a:t>
            </a:r>
          </a:p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 There are no concerns with alcohol consumption while taking metformin."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91840"/>
            <a:ext cx="3749039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291840"/>
            <a:ext cx="3749039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2918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ERROR 1
Dosing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858768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AI recommends: 1,000mg twice daily
FDA approved starting dose: 500mg once daily
Recommending double the starting dose risks GI toxicity and patient harm.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3291840"/>
            <a:ext cx="3749039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3291840"/>
            <a:ext cx="3749039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32918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ERROR 2
Fabricated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858768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Grapefruit juice interaction: NO clinical evidence exists.
AI completely fabricated this pharmacokinetic claim.
Source: FDA drug label — no grapefruit interaction listed.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291840"/>
            <a:ext cx="3749039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3291840"/>
            <a:ext cx="3749039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2918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ERROR 3
Missed Contraindication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3858768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Alcohol + metformin significantly increases risk of lactic acidosis.
Lactic acidosis is potentially fatal.
This contraindication is in every clinical guideline.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53328"/>
            <a:ext cx="11521440" cy="621792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6053328"/>
            <a:ext cx="115214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  <a:latin typeface="Segoe UI"/>
              </a:rPr>
              <a:t>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Confidence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6126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  <a:latin typeface="Segoe UI"/>
              </a:rPr>
              <a:t>98%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465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Risk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126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  <a:latin typeface="Segoe UI"/>
              </a:rPr>
              <a:t>BLOCKED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465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6126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  <a:latin typeface="Segoe UI"/>
              </a:rPr>
              <a:t>Clinical Pharmacist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64465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Escalated 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Legal Module — Fabricated Case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The most publicly documented AI hallucination failure — career-ending if undetected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59436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"Research case law on autonomous vehicle manufacturer liability for software failures."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AI-GENERATED CITATIONS — ALL FABRICATED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11521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3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Morrison v. Tesla Motors,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0487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9th Circuit Court of Appeals, 2023  ·  Case No. 22-16598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231136"/>
            <a:ext cx="164592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24942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NOT FOUND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231136"/>
            <a:ext cx="16459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FABRICATED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24912"/>
            <a:ext cx="1152144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724912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706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Waymo LLC v. California DMV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26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U.S. Supreme Court, 2022  ·  Case No. 21-1024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852928"/>
            <a:ext cx="164592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8712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NOT FOUND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52928"/>
            <a:ext cx="16459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8712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FABRICATED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46704"/>
            <a:ext cx="11521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346704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9242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National Transportation Safety AI Division v. Ford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4845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D.C. Circuit, 2023  ·  Case No. 23-1147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474720"/>
            <a:ext cx="164592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4930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NOT FOUND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474720"/>
            <a:ext cx="16459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49300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FABRICATED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68496"/>
            <a:ext cx="1152144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968496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01421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AI Liability Act of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27024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United States Congress  ·  Pub. L. 118-22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4096511"/>
            <a:ext cx="164592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11479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NOT FOUND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4096511"/>
            <a:ext cx="16459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114799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FABRICATED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645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  <a:latin typeface="Segoe UI"/>
              </a:rPr>
              <a:t>TRUSTLAYER VERIFICATION PROCESS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983480"/>
            <a:ext cx="27889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983480"/>
            <a:ext cx="27889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98348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Extract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5394960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NLP extracts all citation entities from AI response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4983480"/>
            <a:ext cx="27889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4983480"/>
            <a:ext cx="27889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4408" y="498348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4136" y="5394960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Parallel queries: Westlaw, LexisNexis, CourtListener, Federal Register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08776" y="4983480"/>
            <a:ext cx="27889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08776" y="4983480"/>
            <a:ext cx="27889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498348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4" y="5394960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Each unresolved citation reduces confidence score significantly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53144" y="4983480"/>
            <a:ext cx="27889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53144" y="4983480"/>
            <a:ext cx="278892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53144" y="498348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Block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62872" y="5394960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4% confidence → BLOCKED; attorney saved from potential sanctions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144768"/>
            <a:ext cx="11521440" cy="5303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2362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Confidence: 4%  ·  Action: BLOCKED  ·  All 4 citations fabricated  ·  Saved from court sanctions, malpractice, and possible bar discipline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Compliance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One platform — four major regulatory frameworks covered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71500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71500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607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0972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74C3C"/>
                </a:solidFill>
                <a:latin typeface="Segoe UI"/>
              </a:rPr>
              <a:t>94%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35331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4FD"/>
                </a:solidFill>
                <a:latin typeface="Segoe UI"/>
              </a:rPr>
              <a:t>Aug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303520" cy="18288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00200"/>
            <a:ext cx="4985308" cy="182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Article 9: Risk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488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Article 11: Technical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Article 14: Human oversight mechanisms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7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Article 72: Accuracy monitoring &amp; logging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5394960" cy="25603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455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Penalties: up to €35M or 7% global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1005840"/>
            <a:ext cx="571500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1005840"/>
            <a:ext cx="5715000" cy="4754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10607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NIST AI RMF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10972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66FF"/>
                </a:solidFill>
                <a:latin typeface="Segoe UI"/>
              </a:rPr>
              <a:t>89%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35331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4FD"/>
                </a:solidFill>
                <a:latin typeface="Segoe UI"/>
              </a:rPr>
              <a:t>US standard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600200"/>
            <a:ext cx="5303520" cy="18288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1600200"/>
            <a:ext cx="4720132" cy="182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GOVERN: Policies, accountability, culture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488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MAP: Categorize AI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4231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MEASURE: Analyze and assess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7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MANAGE: Prioritize and treat risks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108960"/>
            <a:ext cx="5394960" cy="25603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31455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Referenced in US federal AI procurement requirements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03320"/>
            <a:ext cx="571500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703320"/>
            <a:ext cx="5715000" cy="47548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37581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ISO/IEC 42001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B894"/>
                </a:solidFill>
                <a:latin typeface="Segoe UI"/>
              </a:rPr>
              <a:t>82%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40507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4FD"/>
                </a:solidFill>
                <a:latin typeface="Segoe UI"/>
              </a:rPr>
              <a:t>International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97680"/>
            <a:ext cx="5303520" cy="18288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4348886" cy="1828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72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AI management system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463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Risk assessment framework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AI objectives and performance 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3949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Continual improvement processes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806440"/>
            <a:ext cx="5394960" cy="25603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84301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Emerging international standard for AI governance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59" y="3703320"/>
            <a:ext cx="5715000" cy="2487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59" y="3703320"/>
            <a:ext cx="57150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37581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SOC 2 Type II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59" y="3794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27AE60"/>
                </a:solidFill>
                <a:latin typeface="Segoe UI"/>
              </a:rPr>
              <a:t>97% coverage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40507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F4FD"/>
                </a:solidFill>
                <a:latin typeface="Segoe UI"/>
              </a:rPr>
              <a:t>Ongoing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4297680"/>
            <a:ext cx="5303520" cy="18288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6520" y="4297680"/>
            <a:ext cx="5144414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572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Availability: 99.9% uptime SLA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8463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Processing integrity: accurate outputs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1206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Confidentiality: data protection controls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3949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·  Security: access controls and monitoring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5806440"/>
            <a:ext cx="5394960" cy="256032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59" y="584301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Required by many enterprise vendor evaluation processes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EU AI Act — August 2026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The most significant AI regulation globally — TrustLayer provides 94% coverage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ENFORCEMENT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Feb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Prohibited AI provisions in 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5176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17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Aug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66420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GPAI model rules apply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6517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417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Segoe UI"/>
              </a:rPr>
              <a:t>Aug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66420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HIGH-RISK AI FULL ENFORCEMENT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325880"/>
            <a:ext cx="26517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325880"/>
            <a:ext cx="265176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1417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Aug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166420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Embedded AI systems deadline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01168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PENALTIES FOR NON-COMPLIANCE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31720"/>
            <a:ext cx="11521440" cy="56692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331720"/>
            <a:ext cx="115214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4505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  <a:latin typeface="Segoe UI"/>
              </a:rPr>
              <a:t>Up to €35,000,000  or  7% of total worldwide annual turnover (whichever is higher)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01752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5 CORE REQUIREMENTS — TRUSTLAYER 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64992"/>
            <a:ext cx="11521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64992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410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Risk Classification: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65760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Article 6 — Classify AI systems by risk tier (Unacceptable, High, Limited, Minimal)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474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TrustLayer auto-classifies each deployment. Dashboard shows risk tier per AI system.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77640"/>
            <a:ext cx="1152144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977640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023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Technical Documentation: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27024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Article 11 — Maintain technical documentation before market placement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08736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Auto-generated for every deployment. No manual assembly required.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90288"/>
            <a:ext cx="11521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590288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6360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Human Oversight: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88289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Article 14 — Implement effective human oversight measures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70001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Every FLAG and BLOCK creates an auditable human review record.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202936"/>
            <a:ext cx="11521440" cy="5486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5202936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2486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Accuracy &amp; Robustness: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4955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Article 15 — Achieve appropriate levels of accuracy, robustness, cybersecurity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31266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Real-time accuracy monitoring dashboard. 92% catch rate with &lt;3% false positives.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815584"/>
            <a:ext cx="1152144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5815584"/>
            <a:ext cx="45720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58613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Post-Market Monitoring: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610819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Article 72 — Establish post-market monitoring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59253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Continuous hallucination trend monitoring. Automated incident reporting to authorities.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Integration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LLM-agnostic  ·  Zero vendor lock-in  ·  8 providers  ·  50+ enterprise connectors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  <a:latin typeface="Segoe UI"/>
              </a:rPr>
              <a:t>LLM PROVIDERS — ANY MODEL, ANY VENDOR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53312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630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GPT-4, GPT-4o, GPT-4 Turbo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353312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353312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4630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Anthropic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7373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Claude 3 Opus/Sonnet/Haiku, Claude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353312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353312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4630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Google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7373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Gemini 1.5 Pro/Flash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353312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1353312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4630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Azure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17373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Azure OpenAI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157984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157984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226771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AWS Bedrock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25420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Meta Llama, Titan, Mistral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4408" y="2157984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64408" y="2157984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226771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Mistral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420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Mistral Large/Medium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2157984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2157984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226771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5420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Command R+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3144" y="2157984"/>
            <a:ext cx="27889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53144" y="2157984"/>
            <a:ext cx="27889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44584" y="226771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Self-hosted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25420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Any open-source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03580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ENTERPRISE CONNECTORS (50+)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383280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383280"/>
            <a:ext cx="45720" cy="6583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438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Segoe UI"/>
              </a:rPr>
              <a:t>CRM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30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Salesforce · HubSpot · MS Dynamics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4408" y="3383280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64408" y="3383280"/>
            <a:ext cx="45720" cy="6583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01568" y="3438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Segoe UI"/>
              </a:rPr>
              <a:t>ERP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1568" y="3730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SAP · Oracle · Workday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8776" y="3383280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08776" y="3383280"/>
            <a:ext cx="45720" cy="6583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3438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Segoe UI"/>
              </a:rPr>
              <a:t>ITSM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5936" y="3730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ServiceNow · Jira · Zendesk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53144" y="3383280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53144" y="3383280"/>
            <a:ext cx="45720" cy="65836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0304" y="3438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Segoe UI"/>
              </a:rPr>
              <a:t>HRIS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90304" y="3730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Workday · BambooHR · ADP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133088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4133088"/>
            <a:ext cx="45720" cy="6583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1879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Legal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Westlaw · LexisNexis · CourtListener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64408" y="4133088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64408" y="4133088"/>
            <a:ext cx="45720" cy="6583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01568" y="41879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Healthcare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1568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Epic · Cerner · FDA APIs · PubMed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08776" y="4133088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08776" y="4133088"/>
            <a:ext cx="45720" cy="6583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45936" y="41879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Financial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5936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Bloomberg · Reuters · Core Banking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53144" y="4133088"/>
            <a:ext cx="2788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53144" y="4133088"/>
            <a:ext cx="45720" cy="6583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90304" y="41879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Identity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90304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Active Directory · Okta · Azure 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983480"/>
            <a:ext cx="11521440" cy="160020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" y="4983480"/>
            <a:ext cx="54864" cy="1600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5047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  <a:latin typeface="Segoe UI"/>
              </a:rPr>
              <a:t>INTEGRATION MODES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SDK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5742432"/>
            <a:ext cx="1188720" cy="2468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576072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hours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053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Import library; wrap LLM calls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3756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API Gateway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37560" y="5742432"/>
            <a:ext cx="1188720" cy="2468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37560" y="576072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minutes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37560" y="6053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Change base URL — zero code changes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220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On-Premise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5742432"/>
            <a:ext cx="1188720" cy="2468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576072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1-2 wks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2200" y="6053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Deploy in customer VPC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0684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SaaS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06840" y="5742432"/>
            <a:ext cx="1188720" cy="2468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06840" y="5760720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minutes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06840" y="6053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Fully managed; instant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Production-grade architecture built for enterprise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71500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715000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63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6FF"/>
                </a:solidFill>
                <a:latin typeface="Segoe UI"/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63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6FF"/>
                </a:solidFill>
                <a:latin typeface="Segoe UI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6304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6FF"/>
                </a:solidFill>
                <a:latin typeface="Segoe U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1737360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0136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Demo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80136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66FF"/>
                </a:solidFill>
                <a:latin typeface="Segoe UI"/>
              </a:rPr>
              <a:t>Streamlit + Plotly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8013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Interactive dashboard &amp; visualizations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2167128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3113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2311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66FF"/>
                </a:solidFill>
                <a:latin typeface="Segoe UI"/>
              </a:rPr>
              <a:t>FastAPI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2311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High-performance async request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79" y="2596896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6090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Detection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660903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66FF"/>
                </a:solidFill>
                <a:latin typeface="Segoe UI"/>
              </a:rPr>
              <a:t>Python + HuggingFace 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6090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Parallel NLP-based detection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3026664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906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Scoring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09067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66FF"/>
                </a:solidFill>
                <a:latin typeface="Segoe UI"/>
              </a:rPr>
              <a:t>scikit-learn ensemble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090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Multi-technique result aggregation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1005840"/>
            <a:ext cx="571500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1005840"/>
            <a:ext cx="5715000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00584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Detection &amp;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799" y="1463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Segoe UI"/>
              </a:rPr>
              <a:t>Component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1463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Segoe UI"/>
              </a:rPr>
              <a:t>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146304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Segoe UI"/>
              </a:rPr>
              <a:t>Purpose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799" y="1737360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180136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Semantic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180136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894"/>
                </a:solidFill>
                <a:latin typeface="Segoe UI"/>
              </a:rPr>
              <a:t>sentence-transformers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18013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Embedding-based entropy measurement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799" y="2167128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23113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Claim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22311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894"/>
                </a:solidFill>
                <a:latin typeface="Segoe UI"/>
              </a:rPr>
              <a:t>spaCy NER + custom 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22311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Named entity + assertion extraction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799" y="2596896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266090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Pattern Recognition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2660903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894"/>
                </a:solidFill>
                <a:latin typeface="Segoe UI"/>
              </a:rPr>
              <a:t>Fine-tuned RoBERTa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266090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Hallucination signature classifier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799" y="3026664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906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Numerical 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309067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894"/>
                </a:solidFill>
                <a:latin typeface="Segoe UI"/>
              </a:rPr>
              <a:t>Regex + NER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3090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Numerical entity extraction &amp; lookup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703320"/>
            <a:ext cx="571500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3703320"/>
            <a:ext cx="57150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70332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Data &amp; Persistence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79" y="41605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  <a:latin typeface="Segoe UI"/>
              </a:rPr>
              <a:t>Component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4160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  <a:latin typeface="Segoe UI"/>
              </a:rPr>
              <a:t>Technology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41605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  <a:latin typeface="Segoe UI"/>
              </a:rPr>
              <a:t>Purpose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79" y="4434840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4988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Audit Logging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44988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C12"/>
                </a:solidFill>
                <a:latin typeface="Segoe UI"/>
              </a:rPr>
              <a:t>PostgreSQL (append-only)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4498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Immutable interaction audit trail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79" y="4864608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92861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Real-time Metrics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49286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C12"/>
                </a:solidFill>
                <a:latin typeface="Segoe UI"/>
              </a:rPr>
              <a:t>TimescaleDB / InfluxDB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Time-series performance monitoring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79" y="5294376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35838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Enterprise Cache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535838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C12"/>
                </a:solidFill>
                <a:latin typeface="Segoe UI"/>
              </a:rPr>
              <a:t>Redis (TTL-based)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53583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Fresh enterprise data snapshots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79" y="5724144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7881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Compliance Reports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94560" y="57881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C12"/>
                </a:solidFill>
                <a:latin typeface="Segoe UI"/>
              </a:rPr>
              <a:t>Auto-generated PDF/JSON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31920" y="5788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Regulatory documentation output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59" y="3703320"/>
            <a:ext cx="571500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9359" y="3703320"/>
            <a:ext cx="571500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59" y="370332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Infrastructure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799" y="41605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  <a:latin typeface="Segoe UI"/>
              </a:rPr>
              <a:t>Component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41605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  <a:latin typeface="Segoe UI"/>
              </a:rPr>
              <a:t>Technology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19" y="41605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E44AD"/>
                </a:solidFill>
                <a:latin typeface="Segoe UI"/>
              </a:rPr>
              <a:t>Purpose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799" y="4434840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6520" y="44988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Containerization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83879" y="44988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44AD"/>
                </a:solidFill>
                <a:latin typeface="Segoe UI"/>
              </a:rPr>
              <a:t>Docker + Docker Compose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21240" y="4498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Reproducible environments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799" y="4864608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46520" y="492861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Orchestration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3879" y="49286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44AD"/>
                </a:solidFill>
                <a:latin typeface="Segoe UI"/>
              </a:rPr>
              <a:t>Kubernetes (production)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2124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Auto-scaling, self-healing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799" y="5294376"/>
            <a:ext cx="5532120" cy="384048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535838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Cloud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83879" y="535838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44AD"/>
                </a:solidFill>
                <a:latin typeface="Segoe UI"/>
              </a:rPr>
              <a:t>AWS / Azure / GCP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21240" y="53583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Multi-cloud, customer-choice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799" y="5724144"/>
            <a:ext cx="5532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46520" y="57881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CI/CD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83879" y="57881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44AD"/>
                </a:solidFill>
                <a:latin typeface="Segoe UI"/>
              </a:rPr>
              <a:t>GitHub Actions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21240" y="5788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Automated test + deploy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ROI &amp;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The math is simple — one prevented incident pays for TrustLayer AI many times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BASELINE (100,000 AI queries/month, no TrustLayer)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115214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990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Monthly AI query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39903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100,000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00784"/>
            <a:ext cx="11521440" cy="3200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74650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Industry hallucination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746504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15%  =  15,000 hallucinated responses/month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48256"/>
            <a:ext cx="115214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939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Critical hallucinations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093976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~25%  =  ~3,750 potentially harmful responses/month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95728"/>
            <a:ext cx="11521440" cy="3200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44144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Critical incidents/year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441448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~30  (incidents that cause measurable harm)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43200"/>
            <a:ext cx="115214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7889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Average cost per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788920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$2,400,000  (remediation + legal + regulatory + reputation)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90672"/>
            <a:ext cx="11521440" cy="3200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090672"/>
            <a:ext cx="11521440" cy="3200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090672"/>
            <a:ext cx="4572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13639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TOTAL ANNUAL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136391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~$72,000,000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49300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WITH TRUSTLAYER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40480"/>
            <a:ext cx="115214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8862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Hallucination catch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886200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92%  →  ~28 of 30 critical incidents prevented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187952"/>
            <a:ext cx="11521440" cy="3200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42336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Incidents remaining/year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233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~2  (8% that pass through)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535424"/>
            <a:ext cx="115214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5811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Annual losses prevented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581144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~$66,400,000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82896"/>
            <a:ext cx="11521440" cy="3200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9286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TrustLayer annual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928616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~$500,000  (enterprise tier SaaS)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230368"/>
            <a:ext cx="115214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230368"/>
            <a:ext cx="11521440" cy="32004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230368"/>
            <a:ext cx="45720" cy="320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2760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NET ANNUAL BENEFIT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5276088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~$65,900,000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77840"/>
            <a:ext cx="11521440" cy="32004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11521440" cy="32004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577840"/>
            <a:ext cx="45720" cy="320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562355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ROI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5623559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&gt; 400%  in year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943600"/>
            <a:ext cx="11521440" cy="640080"/>
          </a:xfrm>
          <a:prstGeom prst="rect">
            <a:avLst/>
          </a:prstGeom>
          <a:solidFill>
            <a:srgbClr val="00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5943600"/>
            <a:ext cx="54864" cy="6400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Additional upside — EU AI Act compliance avoids fines up to €35M (August 2026 enforcement).  Reputation protection.  Board-level AI governance readiness.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Live Demo — All 13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Real hallucinations. Real detection. Real-time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50876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05840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Industry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005840"/>
            <a:ext cx="251460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39" y="1005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005840"/>
            <a:ext cx="100584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005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005840"/>
            <a:ext cx="86868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0058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05840"/>
            <a:ext cx="150876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005840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Industry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005840"/>
            <a:ext cx="251460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005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Scenario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1005840"/>
            <a:ext cx="100584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10058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Confidence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67160" y="1005840"/>
            <a:ext cx="868680" cy="34747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0" y="10058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389888"/>
            <a:ext cx="150876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4519" y="1389888"/>
            <a:ext cx="2514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1389888"/>
            <a:ext cx="100584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1389888"/>
            <a:ext cx="86868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1481328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BFSI — Banking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481328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Mortgage rate inquiry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14996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1499616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084832"/>
            <a:ext cx="15087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4519" y="2084832"/>
            <a:ext cx="2514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2084832"/>
            <a:ext cx="100584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2084832"/>
            <a:ext cx="86868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2176272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BFSI — Insurance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7672" y="2176272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Claims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59" y="21945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22%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4688" y="2194560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779776"/>
            <a:ext cx="150876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74519" y="2779776"/>
            <a:ext cx="2514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2779776"/>
            <a:ext cx="100584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2779776"/>
            <a:ext cx="86868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2871216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BFSI — Wealth Mgmt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47672" y="2871216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Investment advice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59" y="28895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31%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2889504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74720"/>
            <a:ext cx="15087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74519" y="3474720"/>
            <a:ext cx="2514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34840" y="3474720"/>
            <a:ext cx="100584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0" y="3474720"/>
            <a:ext cx="86868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3566160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Healthcare — Clinical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47672" y="3566160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Drug dosage (metformin)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35844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3584448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169664"/>
            <a:ext cx="150876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74519" y="4169664"/>
            <a:ext cx="2514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34840" y="4169664"/>
            <a:ext cx="100584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4169664"/>
            <a:ext cx="86868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" y="4261104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Healthcare — Admin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47672" y="4261104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Prior authorization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59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29%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04688" y="4279392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864608"/>
            <a:ext cx="15087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74519" y="4864608"/>
            <a:ext cx="2514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34840" y="4864608"/>
            <a:ext cx="100584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0" y="4864608"/>
            <a:ext cx="86868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" y="4956048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Legal — Litigation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47672" y="4956048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Case research (all citations fabricated)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0559" y="497433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04688" y="4974336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559552"/>
            <a:ext cx="150876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74519" y="5559552"/>
            <a:ext cx="2514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34840" y="5559552"/>
            <a:ext cx="100584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86400" y="5559552"/>
            <a:ext cx="86868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" y="5650992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Legal — Contract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47672" y="5650992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NDA review (no document provided)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80559" y="56692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35%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5669280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1389888"/>
            <a:ext cx="150876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955279" y="1389888"/>
            <a:ext cx="2514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515600" y="1389888"/>
            <a:ext cx="100584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567160" y="1389888"/>
            <a:ext cx="86868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73952" y="1481328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Segoe UI"/>
              </a:rPr>
              <a:t>Enterprise — HR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28431" y="1481328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Policy inquiry (vacation / overtime)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61320" y="14996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  <a:latin typeface="Segoe UI"/>
              </a:rPr>
              <a:t>42%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585448" y="1499616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2084832"/>
            <a:ext cx="15087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55279" y="2084832"/>
            <a:ext cx="2514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15600" y="2084832"/>
            <a:ext cx="100584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567160" y="2084832"/>
            <a:ext cx="86868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73952" y="2176272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Segoe UI"/>
              </a:rPr>
              <a:t>Enterprise — 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28431" y="2176272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VPN support (fabricated URLs)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21945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  <a:latin typeface="Segoe UI"/>
              </a:rPr>
              <a:t>38%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585448" y="2194560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2779776"/>
            <a:ext cx="150876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955279" y="2779776"/>
            <a:ext cx="2514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15600" y="2779776"/>
            <a:ext cx="100584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567160" y="2779776"/>
            <a:ext cx="86868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73952" y="2871216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Segoe UI"/>
              </a:rPr>
              <a:t>Manufacturing — QC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28431" y="2871216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Quality control record query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61320" y="28895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  <a:latin typeface="Segoe UI"/>
              </a:rPr>
              <a:t>55%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585448" y="2889504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3474720"/>
            <a:ext cx="15087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955279" y="3474720"/>
            <a:ext cx="2514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15600" y="3474720"/>
            <a:ext cx="100584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567160" y="3474720"/>
            <a:ext cx="86868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73952" y="3566160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Segoe UI"/>
              </a:rPr>
              <a:t>Retail — Product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28431" y="3566160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Pricing inquiry (unverified discount)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61320" y="35844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  <a:latin typeface="Segoe UI"/>
              </a:rPr>
              <a:t>61%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585448" y="3584448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  <a:latin typeface="Segoe UI"/>
              </a:rPr>
              <a:t>FLAG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4169664"/>
            <a:ext cx="150876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55279" y="4169664"/>
            <a:ext cx="25146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515600" y="4169664"/>
            <a:ext cx="100584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567160" y="4169664"/>
            <a:ext cx="86868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73952" y="4261104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Telecom — Billing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28431" y="4261104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Account modification query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6132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27%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585448" y="4279392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4864608"/>
            <a:ext cx="150876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55279" y="4864608"/>
            <a:ext cx="251460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515600" y="4864608"/>
            <a:ext cx="100584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567160" y="4864608"/>
            <a:ext cx="868680" cy="62179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73952" y="4956048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Segoe UI"/>
              </a:rPr>
              <a:t>Government — Benefits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28431" y="4956048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Benefits eligibility determination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61320" y="497433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Segoe UI"/>
              </a:rPr>
              <a:t>19%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585448" y="4974336"/>
            <a:ext cx="8321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Demo Application — 9 Pages, 15-Minute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Streamlit-based interactive demo covering all platform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79476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1556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115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Executive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642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Market stats · Capability cards · Industry risk heatmap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00584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005840"/>
            <a:ext cx="37947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11556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115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Live Detection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6642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13 interactive scenarios · Real-time scoring animation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00584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005840"/>
            <a:ext cx="37947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11556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9C12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1115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16642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8 detection techniques · Latency metrics · System diagram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46888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468880"/>
            <a:ext cx="379476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57860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2578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Industry 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12724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8 vertical modules · Use cases · Integration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246888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79" y="2468880"/>
            <a:ext cx="37947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7" y="257860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7AE60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2578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Real-Time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7" y="312724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Live query volume · Detection feed · Alert stream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246888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2468880"/>
            <a:ext cx="379476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7" y="257860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  <a:latin typeface="Segoe U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2578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Compliance &amp;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312724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EU AI Act · NIST · ISO · SOC 2 coverage meters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3192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931920"/>
            <a:ext cx="379476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04164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6FF"/>
                </a:solidFill>
                <a:latin typeface="Segoe U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Integrations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459028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8 LLM providers · 50+ enterprise connector catalog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79" y="393192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79" y="3931920"/>
            <a:ext cx="379476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7407" y="404164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Segoe U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7488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ROI Calculator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7" y="459028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Customizable inputs · 12-month projection · Break-even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19" y="3931920"/>
            <a:ext cx="3794760" cy="12984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75319" y="3931920"/>
            <a:ext cx="37947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7" y="404164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9C12"/>
                </a:solidFill>
                <a:latin typeface="Segoe U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25128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API Documentation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5047" y="459028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SDK examples · API reference · Integration patterns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548640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RECOMMENDED 15-MINUTE DEMO FLOW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806440"/>
            <a:ext cx="18288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5806440"/>
            <a:ext cx="18288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58978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FF"/>
                </a:solidFill>
                <a:latin typeface="Segoe UI"/>
              </a:rPr>
              <a:t>0-2m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" y="6172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Executive
Overview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5806440"/>
            <a:ext cx="18288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0" y="5806440"/>
            <a:ext cx="18288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59152" y="58978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2-6m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59152" y="6172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Live Detection
Demo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51959" y="5806440"/>
            <a:ext cx="18288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51959" y="5806440"/>
            <a:ext cx="18288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25112" y="58978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Segoe UI"/>
              </a:rPr>
              <a:t>6-8m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25112" y="6172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Technical
Architecture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19" y="5806440"/>
            <a:ext cx="18288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19" y="5806440"/>
            <a:ext cx="182880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1" y="58978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94"/>
                </a:solidFill>
                <a:latin typeface="Segoe UI"/>
              </a:rPr>
              <a:t>8-10m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1" y="6172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Industry
Solutions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79" y="5806440"/>
            <a:ext cx="18288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83879" y="5806440"/>
            <a:ext cx="182880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57031" y="58978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  <a:latin typeface="Segoe UI"/>
              </a:rPr>
              <a:t>10-12m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57031" y="6172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Compliance
&amp; Governance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49840" y="5806440"/>
            <a:ext cx="18288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49840" y="5806440"/>
            <a:ext cx="18288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22992" y="58978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12-15m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22992" y="6172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ROI
Calculator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TrustLayer AI is the only platform combining detection + prevention +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828800" cy="38404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35608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270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Real-time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84248"/>
            <a:ext cx="1828800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756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Automated blocking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32888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243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Enterprise grounding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81528"/>
            <a:ext cx="1828800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729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Compliance (EU AI Act)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30168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21607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8 industry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78808"/>
            <a:ext cx="1828800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2702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LLM-agnostic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727448"/>
            <a:ext cx="1828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8188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76088"/>
            <a:ext cx="1828800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3675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Time to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1005840"/>
            <a:ext cx="1618488" cy="38404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100584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OpenAI
Safety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143560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15270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198424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20756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53288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6243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08152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17296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363016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3721607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417880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42702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472744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48188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527608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53675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Fast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8" y="1005840"/>
            <a:ext cx="1618488" cy="38404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58768" y="100584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Guardrails
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58768" y="143560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58768" y="15270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58768" y="198424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8768" y="20756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58768" y="253288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58768" y="26243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58768" y="308152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58768" y="317296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58768" y="363016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58768" y="3721607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58768" y="417880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58768" y="42702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58768" y="472744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58768" y="48188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58768" y="527608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58768" y="53675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Med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22976" y="1005840"/>
            <a:ext cx="1618488" cy="38404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22976" y="100584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Arthur
AI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2976" y="143560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22976" y="15270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22976" y="198424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22976" y="20756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22976" y="253288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22976" y="26243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22976" y="308152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22976" y="317296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22976" y="363016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22976" y="3721607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22976" y="417880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22976" y="42702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22976" y="472744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22976" y="48188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22976" y="527608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22976" y="53675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Slow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87183" y="1005840"/>
            <a:ext cx="1618488" cy="38404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87183" y="100584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Fiddler
AI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87183" y="143560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87183" y="15270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87183" y="198424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87183" y="20756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87183" y="253288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87183" y="26243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87183" y="308152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87183" y="317296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87183" y="363016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87183" y="3721607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87183" y="417880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87183" y="42702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87183" y="472744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87183" y="48188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87183" y="527608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87183" y="53675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Slow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51392" y="1005840"/>
            <a:ext cx="1618488" cy="384048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51392" y="100584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Custom
Build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851392" y="143560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51392" y="15270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51392" y="198424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51392" y="20756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51392" y="253288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851392" y="26243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851392" y="308152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851392" y="317296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851392" y="363016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851392" y="3721607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  <a:latin typeface="Segoe UI"/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851392" y="417880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51392" y="42702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851392" y="4727448"/>
            <a:ext cx="1618488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851392" y="48188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~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851392" y="5276088"/>
            <a:ext cx="1618488" cy="502920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851392" y="53675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Segoe UI"/>
              </a:rPr>
              <a:t>V.Slow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515600" y="1005840"/>
            <a:ext cx="1618488" cy="38404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15600" y="100584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TrustLayer
AI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515600" y="143560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515600" y="15270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515600" y="198424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515600" y="20756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515600" y="253288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515600" y="26243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515600" y="308152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515600" y="317296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515600" y="363016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515600" y="3721607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515600" y="417880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15600" y="42702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515600" y="472744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515600" y="481888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✓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15600" y="5276088"/>
            <a:ext cx="1618488" cy="502920"/>
          </a:xfrm>
          <a:prstGeom prst="rect">
            <a:avLst/>
          </a:prstGeom>
          <a:solidFill>
            <a:srgbClr val="00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515600" y="536752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894"/>
                </a:solidFill>
                <a:latin typeface="Segoe UI"/>
              </a:rPr>
              <a:t>Fast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20040" y="6016752"/>
            <a:ext cx="11521440" cy="621792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20040" y="6016752"/>
            <a:ext cx="54864" cy="62179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2920" y="610819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TrustLayer AI is the only solution delivering full coverage across all 8 dimensions — detection, prevention, governance, compliance, industry specialization, and rapid time-to-value. No other platform comes close.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From hackathon demo to enterprise-grade platform and beyond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83464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834640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3327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078992"/>
            <a:ext cx="822960" cy="256032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09728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48132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FF"/>
                </a:solidFill>
                <a:latin typeface="Segoe UI"/>
              </a:rPr>
              <a:t>Hackathon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920240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" y="1920240"/>
            <a:ext cx="36576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299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Interactive Streamlit demo — 9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2761488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" y="2761488"/>
            <a:ext cx="36576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71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13 industry hallucination scenarios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3602736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" y="3602736"/>
            <a:ext cx="36576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1246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8 simulated detection techniques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4443984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" y="4443984"/>
            <a:ext cx="36576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Compliance dashboards (EU AI Act, NIST, ISO, SOC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" y="5285232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" y="5285232"/>
            <a:ext cx="36576" cy="7132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ROI calculator with customizable inputs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1005840"/>
            <a:ext cx="283464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1005840"/>
            <a:ext cx="283464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103327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60" y="1078992"/>
            <a:ext cx="822960" cy="256032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109728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3–6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148132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Segoe UI"/>
              </a:rPr>
              <a:t>MVP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1920240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01568" y="1920240"/>
            <a:ext cx="36576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20299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Production NLP detection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1568" y="2761488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1568" y="2761488"/>
            <a:ext cx="36576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2871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Live API gateway (zero code integration)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3602736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01568" y="3602736"/>
            <a:ext cx="36576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371246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3 enterprise connectors (Salesforce, ServiceNow, SAP)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1568" y="4443984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01568" y="4443984"/>
            <a:ext cx="36576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45537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Real audit logging + compliance report generation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1568" y="5285232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01568" y="5285232"/>
            <a:ext cx="36576" cy="7132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40" y="5394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First 1–2 paying enterprise pilots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005840"/>
            <a:ext cx="283464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1005840"/>
            <a:ext cx="283464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3368" y="103327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59" y="1078992"/>
            <a:ext cx="822960" cy="256032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59" y="109728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6–12 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3368" y="148132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Segoe UI"/>
              </a:rPr>
              <a:t>Growth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368" y="1920240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73368" y="1920240"/>
            <a:ext cx="36576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20299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50+ enterprise system connectors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73368" y="2761488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73368" y="2761488"/>
            <a:ext cx="36576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2871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Industry-specific fine-tuned models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73368" y="3602736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73368" y="3602736"/>
            <a:ext cx="36576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71246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SOC 2 Type II certification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73368" y="4443984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73368" y="4443984"/>
            <a:ext cx="36576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5537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Multi-region (US / EU / APAC)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368" y="5285232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73368" y="5285232"/>
            <a:ext cx="36576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5394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Self-serve onboarding portal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35440" y="1005840"/>
            <a:ext cx="2834640" cy="5486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35440" y="1005840"/>
            <a:ext cx="283464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45167" y="103327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109959" y="1078992"/>
            <a:ext cx="822960" cy="256032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09959" y="109728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12–24 Mo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45167" y="148132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Segoe UI"/>
              </a:rPr>
              <a:t>Scale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45167" y="1920240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45167" y="1920240"/>
            <a:ext cx="36576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64040" y="20299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EU AI Act compliance certification program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45167" y="2761488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345167" y="2761488"/>
            <a:ext cx="36576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64040" y="287121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Third-party detection module marketplace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45167" y="3602736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345167" y="3602736"/>
            <a:ext cx="36576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64040" y="371246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Federated learning (privacy-preserving)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45167" y="4443984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5167" y="4443984"/>
            <a:ext cx="36576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64040" y="45537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Real-time regulatory update pipeline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45167" y="5285232"/>
            <a:ext cx="2615184" cy="71323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45167" y="5285232"/>
            <a:ext cx="36576" cy="7132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64040" y="53949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Series B fundraising milestone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Why Now — Perfect Market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Four converging forces make 2025-2026 the critical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1521440" cy="1828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66928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Regulatory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Segoe UI"/>
              </a:rPr>
              <a:t>EU AI Act Full Enforcement: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Enterprises have 12-18 months to build compliance infrastructure.
TrustLayer provides 94% coverage out of the box — immediate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669280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789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Enterprise AI Adoption Surge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FF"/>
                </a:solidFill>
                <a:latin typeface="Segoe UI"/>
              </a:rPr>
              <a:t>AI spending doubled in 2024; projected to triple by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More AI deployments = more hallucination risk = larger addressable market.
The problem grows faster than awareness of the solution.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9476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94760"/>
            <a:ext cx="566928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679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High-Profile Incidents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Segoe UI"/>
              </a:rPr>
              <a:t>Legal sanctions, healthcare near-misses driving board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Risk of AI hallucinations is now a board-level concern at 77% of enterprises.
Boards are demanding answers — TrustLayer provides them.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9476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566928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679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Provider Inaction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94"/>
                </a:solidFill>
                <a:latin typeface="Segoe UI"/>
              </a:rPr>
              <a:t>OpenAI, Google, Microsoft cannot solve this conflict-of-interest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0060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The window for an independent trust layer solution is wide open.
First-mover advantage in a category that will be essential by 2026.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583680"/>
            <a:ext cx="11521440" cy="274320"/>
          </a:xfrm>
          <a:prstGeom prst="rect">
            <a:avLst/>
          </a:prstGeom>
          <a:solidFill>
            <a:srgbClr val="00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20256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AI Governance &amp; Trust Market:  $2.1B (2024)  →  $18.7B projected (2030)  |  CAGR: 43%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TrustLayer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F4FD"/>
                </a:solidFill>
                <a:latin typeface="Segoe UI"/>
              </a:rPr>
              <a:t>Enterprise AI Reliability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651760"/>
            <a:ext cx="7589520" cy="457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Segoe UI"/>
              </a:rPr>
              <a:t>Every day you deploy AI without reliability controls is a day you are exposed.
Exposed to customer harm. Regulatory fines. Reputation damage.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840480"/>
            <a:ext cx="32004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840480"/>
            <a:ext cx="3200400" cy="5029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434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8 parallel algorithms
92% catch rate
&lt;100ms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840480"/>
            <a:ext cx="32004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3840480"/>
            <a:ext cx="320040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PREVENT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34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Real-time blocking
before harm occurs
zero end-user delay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840480"/>
            <a:ext cx="32004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840480"/>
            <a:ext cx="32004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GOVERN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434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EU AI Act ready
Full audit trail
Board-ready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TrustLayer AI  ·  Built for the industries that cannot afford to get it wrong  ·  Canada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