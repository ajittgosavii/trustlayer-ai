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Segoe UI"/>
              </a:rPr>
              <a:t>HACKATHON SUBMISSION  |  INFOSYS INCUBATOR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Segoe UI"/>
              </a:rPr>
              <a:t>TrustLayer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F4FD"/>
                </a:solidFill>
                <a:latin typeface="Segoe UI"/>
              </a:rPr>
              <a:t>Enterprise AI Reliability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  <a:latin typeface="Segoe UI"/>
              </a:rPr>
              <a:t>The trust layer between your enterprise and AI.
Detect. Prevent. Govern.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914400"/>
            <a:ext cx="493776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0" y="914400"/>
            <a:ext cx="54864" cy="50292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6FF"/>
                </a:solidFill>
                <a:latin typeface="Segoe UI"/>
              </a:rPr>
              <a:t>$67.4B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Annual losses from AI hallucinations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6FF"/>
                </a:solidFill>
                <a:latin typeface="Segoe UI"/>
              </a:rPr>
              <a:t>$2.4M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450591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Average cost per incident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6FF"/>
                </a:solidFill>
                <a:latin typeface="Segoe UI"/>
              </a:rPr>
              <a:t>77%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364991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Enterprise leaders concerned about hallucinations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6FF"/>
                </a:solidFill>
                <a:latin typeface="Segoe UI"/>
              </a:rPr>
              <a:t>92%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42793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TrustLayer hallucination catch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6FF"/>
                </a:solidFill>
                <a:latin typeface="Segoe UI"/>
              </a:rPr>
              <a:t>&lt;100ms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51937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Real-time detection latency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355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Built for the industries that cannot afford to get it wrong.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AI hallucinations are causing measurable, costly, real-world harm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133856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4864" cy="10515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Segoe UI"/>
              </a:rPr>
              <a:t>⚖️  Legal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Attorneys sanctioned for submitting fabricated case citations generated by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1133856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54864" cy="10515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23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Segoe UI"/>
              </a:rPr>
              <a:t>🏥  Healthcare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43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AI systems recommending dangerous drug dosages not supported by clinical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66160"/>
            <a:ext cx="1133856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566160"/>
            <a:ext cx="54864" cy="10515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657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Segoe UI"/>
              </a:rPr>
              <a:t>🏦  Banking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9776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Chatbots guaranteeing mortgage rates and promotions that do not exist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00600"/>
            <a:ext cx="1133856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800600"/>
            <a:ext cx="54864" cy="10515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892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Segoe UI"/>
              </a:rPr>
              <a:t>🏛️  Government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2120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AI making unauthorized benefits eligibility determinations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126480"/>
            <a:ext cx="11338560" cy="502920"/>
          </a:xfrm>
          <a:prstGeom prst="rect">
            <a:avLst/>
          </a:prstGeom>
          <a:solidFill>
            <a:srgbClr val="2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6126480"/>
            <a:ext cx="54864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6153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Segoe UI"/>
              </a:rPr>
              <a:t>Root Cause: AI providers have a conflict of interest — they cannot solve the problem they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TrustLayer AI — real-time hallucination detection, prevention, and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46888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User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161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66FF"/>
                </a:solidFill>
                <a:latin typeface="Segoe U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097280"/>
            <a:ext cx="246888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0972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LLM Provider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2161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66FF"/>
                </a:solidFill>
                <a:latin typeface="Segoe U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2468880" cy="6858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0972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TrustLayer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2161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66FF"/>
                </a:solidFill>
                <a:latin typeface="Segoe U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097280"/>
            <a:ext cx="2468880" cy="6858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0972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Verified Response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103120"/>
            <a:ext cx="347472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103120"/>
            <a:ext cx="3474720" cy="4114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1031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578608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Confidence ≥ 75%
Response delivered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2103120"/>
            <a:ext cx="347472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2103120"/>
            <a:ext cx="347472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21031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FLAG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578608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Confidence 50–74%
Routed to human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103120"/>
            <a:ext cx="347472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2103120"/>
            <a:ext cx="347472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21031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BLOCK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578608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Confidence &lt; 50%
Blocked + fallback triggered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9776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Key Differentiators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389120"/>
            <a:ext cx="36576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389120"/>
            <a:ext cx="45720" cy="5486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48055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  Sub-100ms latency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4389120"/>
            <a:ext cx="36576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4389120"/>
            <a:ext cx="45720" cy="5486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448055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  8 parallel detection algorithms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4389120"/>
            <a:ext cx="36576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4389120"/>
            <a:ext cx="45720" cy="5486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448055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  Enterprise data grounding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120640"/>
            <a:ext cx="36576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5120640"/>
            <a:ext cx="45720" cy="5486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21207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  8 industry-specific modules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5120640"/>
            <a:ext cx="36576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97680" y="5120640"/>
            <a:ext cx="45720" cy="548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0" y="521207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  Built-in EU AI Act compliance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5120640"/>
            <a:ext cx="36576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29600" y="5120640"/>
            <a:ext cx="45720" cy="548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521207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  Works with any LLM — no lock-in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8 parallel detection techniques delivering &lt;100ms end-to-end latency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657600" cy="3657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Detection Technique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005840"/>
            <a:ext cx="1005840" cy="3657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005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6360" y="1005840"/>
            <a:ext cx="1005840" cy="3657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005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Latency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4937760" cy="3657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005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What It Catches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417320"/>
            <a:ext cx="11430000" cy="5120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50876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Semantic Entropy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1508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894"/>
                </a:solidFill>
                <a:latin typeface="Segoe UI"/>
              </a:rPr>
              <a:t>87%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1508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39C12"/>
                </a:solidFill>
                <a:latin typeface="Segoe UI"/>
              </a:rPr>
              <a:t>45ms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Internal model uncertainty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965960"/>
            <a:ext cx="11430000" cy="512064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05740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Self-Consistency Checking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2057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894"/>
                </a:solidFill>
                <a:latin typeface="Segoe UI"/>
              </a:rPr>
              <a:t>82%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057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39C12"/>
                </a:solidFill>
                <a:latin typeface="Segoe UI"/>
              </a:rPr>
              <a:t>120ms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057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Cross-query contradiction 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514600"/>
            <a:ext cx="11430000" cy="5120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60604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Source Citation 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606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894"/>
                </a:solidFill>
                <a:latin typeface="Segoe UI"/>
              </a:rPr>
              <a:t>95%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2606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39C12"/>
                </a:solidFill>
                <a:latin typeface="Segoe UI"/>
              </a:rPr>
              <a:t>200ms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606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Real-time citation lookup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063239"/>
            <a:ext cx="11430000" cy="512064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154679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Enterprise Knowledge Grounding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15467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894"/>
                </a:solidFill>
                <a:latin typeface="Segoe UI"/>
              </a:rPr>
              <a:t>98%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315467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39C12"/>
                </a:solidFill>
                <a:latin typeface="Segoe UI"/>
              </a:rPr>
              <a:t>150ms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15467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Verified against your data sources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611880"/>
            <a:ext cx="11430000" cy="5120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70332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Claim Extraction &amp; Classification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3703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894"/>
                </a:solidFill>
                <a:latin typeface="Segoe UI"/>
              </a:rPr>
              <a:t>91%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3703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39C12"/>
                </a:solidFill>
                <a:latin typeface="Segoe UI"/>
              </a:rPr>
              <a:t>35ms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703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Risk-tier classification of assertions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160520"/>
            <a:ext cx="11430000" cy="512064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251959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Hallucination Pattern Recognition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425195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894"/>
                </a:solidFill>
                <a:latin typeface="Segoe UI"/>
              </a:rPr>
              <a:t>79%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425195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39C12"/>
                </a:solidFill>
                <a:latin typeface="Segoe UI"/>
              </a:rPr>
              <a:t>25ms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425195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Trained on curated failure datasets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709159"/>
            <a:ext cx="11430000" cy="5120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800599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Temporal Consistency Checking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60520" y="480059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894"/>
                </a:solidFill>
                <a:latin typeface="Segoe UI"/>
              </a:rPr>
              <a:t>93%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2080" y="480059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39C12"/>
                </a:solidFill>
                <a:latin typeface="Segoe UI"/>
              </a:rPr>
              <a:t>40ms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480059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Date-sensitive claim validation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257800"/>
            <a:ext cx="11430000" cy="512064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534924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Numerical Claim Validation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60520" y="5349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894"/>
                </a:solidFill>
                <a:latin typeface="Segoe UI"/>
              </a:rPr>
              <a:t>96%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80" y="5349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39C12"/>
                </a:solidFill>
                <a:latin typeface="Segoe UI"/>
              </a:rPr>
              <a:t>80ms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5349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Rate, dosage &amp; threshold verification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897880"/>
            <a:ext cx="11430000" cy="6858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59893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Overall Catch Rate: 92%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66160" y="59893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False Positive Rate: &lt;3%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59893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Pipeline Latency: &lt;100ms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35440" y="59893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Uptime SLA: 99.9%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Industry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Specialized detection for 8 verticals — 13 built-in scenarios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283464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2834640" cy="34747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972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BFSI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481328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Fabricated rates, unauthorized eligibility, regulatory violations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9272" y="1097280"/>
            <a:ext cx="283464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9272" y="1097280"/>
            <a:ext cx="283464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10972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Healthcare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1481328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Drug dosing errors, dangerous contraindications, unauthorized approvals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8504" y="1097280"/>
            <a:ext cx="283464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18504" y="1097280"/>
            <a:ext cx="2834640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0972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Legal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481328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Fabricated case citations, non-existent statutes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17736" y="1097280"/>
            <a:ext cx="283464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17736" y="1097280"/>
            <a:ext cx="2834640" cy="34747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7736" y="10972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9176" y="1481328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Fabricated HR policies, incorrect IT guidance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651760"/>
            <a:ext cx="283464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2651760"/>
            <a:ext cx="2834640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6517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Manufacturing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3035808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Fabricated QC records, spec violations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9272" y="2651760"/>
            <a:ext cx="283464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19272" y="2651760"/>
            <a:ext cx="2834640" cy="34747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9272" y="26517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Retail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0712" y="3035808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Unverified pricing, availability errors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18504" y="2651760"/>
            <a:ext cx="283464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18504" y="2651760"/>
            <a:ext cx="2834640" cy="347472"/>
          </a:xfrm>
          <a:prstGeom prst="rect">
            <a:avLst/>
          </a:prstGeom>
          <a:solidFill>
            <a:srgbClr val="27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18504" y="26517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Telecom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9944" y="3035808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Unauthorized account actions, billing errors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17736" y="2651760"/>
            <a:ext cx="283464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17736" y="2651760"/>
            <a:ext cx="283464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17736" y="26517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Government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9176" y="3035808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Unauthorized eligibility determinations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0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5897880"/>
            <a:ext cx="54864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943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Example — Healthcare:  AI recommends metformin 1,000mg twice daily (FDA approved: 500mg), cites grapefruit interaction (fabricated), misses alcohol contraindication.  Confidence: 6%.  Action: BLOCKED.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Compliance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One platform — four major regulatory frameworks covered out of the box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33856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1737360"/>
            <a:ext cx="7772400" cy="256032"/>
          </a:xfrm>
          <a:prstGeom prst="rect">
            <a:avLst/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1737360"/>
            <a:ext cx="7306056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EU AI 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3416" y="171907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94%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6479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Aug 2026 enforcement — penalties up to €35M or 7% global revenue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77440"/>
            <a:ext cx="1133856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2971800"/>
            <a:ext cx="7772400" cy="256032"/>
          </a:xfrm>
          <a:prstGeom prst="rect">
            <a:avLst/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2971800"/>
            <a:ext cx="6917436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5146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NIST AI RMF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4796" y="295351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89%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99923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Govern, Map, Measure, Manage functions fully addressed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11880"/>
            <a:ext cx="1133856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0" y="4206240"/>
            <a:ext cx="7772400" cy="256032"/>
          </a:xfrm>
          <a:prstGeom prst="rect">
            <a:avLst/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0" y="4206240"/>
            <a:ext cx="6373368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7490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ISO/IEC 42001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7" y="4187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82%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23367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International AI management system standard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846320"/>
            <a:ext cx="1133856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0" y="5440680"/>
            <a:ext cx="7772400" cy="256032"/>
          </a:xfrm>
          <a:prstGeom prst="rect">
            <a:avLst/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0" y="5440680"/>
            <a:ext cx="7539227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9834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SOC 2 Type II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6588" y="542239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97%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46811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Availability, processing integrity, confidentiality controls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080760"/>
            <a:ext cx="1133856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6080760"/>
            <a:ext cx="54864" cy="5486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12648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Every AI interaction generates an immutable structured audit log — interaction ID, query, response, all 8 detection scores, action taken, compliance tags. Board-ready reporting at a click.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Integration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Works with any LLM provider — 50+ enterprise connectors — zero vendor lock-in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FF"/>
                </a:solidFill>
                <a:latin typeface="Segoe UI"/>
              </a:rPr>
              <a:t>LLM PROVIDERS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51460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OpenAI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417320"/>
            <a:ext cx="251460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417320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Anthropic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417320"/>
            <a:ext cx="251460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1417320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Google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1417320"/>
            <a:ext cx="251460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417320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Azure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11680"/>
            <a:ext cx="251460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011680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AWS Bedrock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2011680"/>
            <a:ext cx="251460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2011680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Meta Llama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2011680"/>
            <a:ext cx="251460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2011680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Mistral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2011680"/>
            <a:ext cx="251460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2011680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Open-source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788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94"/>
                </a:solidFill>
                <a:latin typeface="Segoe UI"/>
              </a:rPr>
              <a:t>ENTERPRISE CONNECTORS (50+)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154680"/>
            <a:ext cx="274320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154680"/>
            <a:ext cx="2743200" cy="2286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154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CRM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" y="3401568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Salesforce, HubSpot, Dynamics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3154680"/>
            <a:ext cx="274320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3154680"/>
            <a:ext cx="2743200" cy="2286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3154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ERP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64992" y="3401568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SAP, Oracle, Workday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154680"/>
            <a:ext cx="274320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154680"/>
            <a:ext cx="2743200" cy="2286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3154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ITSM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91072" y="3401568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ServiceNow, Jira, Zendesk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3154680"/>
            <a:ext cx="274320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0" y="3154680"/>
            <a:ext cx="2743200" cy="2286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154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HRIS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7152" y="3401568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Workday, BambooHR, ADP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977640"/>
            <a:ext cx="274320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3977640"/>
            <a:ext cx="2743200" cy="2286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3977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Legal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4224528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Westlaw, LexisNexis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91840" y="3977640"/>
            <a:ext cx="274320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91840" y="3977640"/>
            <a:ext cx="2743200" cy="2286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91840" y="3977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Healthcare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64992" y="4224528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Epic, Cerner, FDA APIs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3977640"/>
            <a:ext cx="274320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3977640"/>
            <a:ext cx="2743200" cy="2286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3977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Financial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91072" y="4224528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Bloomberg, Reuters, Core Banking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0" y="3977640"/>
            <a:ext cx="274320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144000" y="3977640"/>
            <a:ext cx="2743200" cy="2286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0" y="3977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Identity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17152" y="4224528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Active Directory, Okta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897880"/>
            <a:ext cx="11338560" cy="731520"/>
          </a:xfrm>
          <a:prstGeom prst="rect">
            <a:avLst/>
          </a:prstGeom>
          <a:solidFill>
            <a:srgbClr val="0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6035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66FF"/>
                </a:solidFill>
                <a:latin typeface="Segoe UI"/>
              </a:rPr>
              <a:t>SDK (hours)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74720" y="6035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66FF"/>
                </a:solidFill>
                <a:latin typeface="Segoe UI"/>
              </a:rPr>
              <a:t>API Gateway (zero code)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9360" y="6035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66FF"/>
                </a:solidFill>
                <a:latin typeface="Segoe UI"/>
              </a:rPr>
              <a:t>On-Premise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0" y="6035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66FF"/>
                </a:solidFill>
                <a:latin typeface="Segoe UI"/>
              </a:rPr>
              <a:t>SaaS (minutes)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ROI &amp;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The math is simple — preventing one incident pays for TrustLayer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03520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30352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Without TrustLayer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  <a:latin typeface="Segoe UI"/>
              </a:rPr>
              <a:t>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33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Monthly AI queries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  <a:latin typeface="Segoe UI"/>
              </a:rPr>
              <a:t>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706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Industry avg hallucination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  <a:latin typeface="Segoe UI"/>
              </a:rPr>
              <a:t>~30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478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Critical incidents per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7763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  <a:latin typeface="Segoe UI"/>
              </a:rPr>
              <a:t>$2,400,000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251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Cost per critical incident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54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  <a:latin typeface="Segoe UI"/>
              </a:rPr>
              <a:t>~$72M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023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Annual exposure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097280"/>
            <a:ext cx="5577840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097280"/>
            <a:ext cx="5577840" cy="4114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0972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With TrustLayer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645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894"/>
                </a:solidFill>
                <a:latin typeface="Segoe UI"/>
              </a:rPr>
              <a:t>92%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9933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Hallucinations caught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23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894"/>
                </a:solidFill>
                <a:latin typeface="Segoe UI"/>
              </a:rPr>
              <a:t>~2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7706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Incidents per year (remaining)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2004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894"/>
                </a:solidFill>
                <a:latin typeface="Segoe UI"/>
              </a:rPr>
              <a:t>$66M+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5478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Losses prevented annually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97763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894"/>
                </a:solidFill>
                <a:latin typeface="Segoe UI"/>
              </a:rPr>
              <a:t>~$500K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3251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TrustLayer annual cost (enterprise)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754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894"/>
                </a:solidFill>
                <a:latin typeface="Segoe UI"/>
              </a:rPr>
              <a:t>&gt;400%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10235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Return on investment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0175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VS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897880"/>
            <a:ext cx="11338560" cy="685800"/>
          </a:xfrm>
          <a:prstGeom prst="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5897880"/>
            <a:ext cx="54864" cy="6858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989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Additional upside: Avoid EU AI Act fines up to €35M (August 2026) + reputation protection + regulatory readiness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From hackathon demo to enterprise-scale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274320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2743200" cy="50292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972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Phase 1
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6FF"/>
                </a:solidFill>
                <a:latin typeface="Segoe UI"/>
              </a:rPr>
              <a:t>Hackathon Demo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2240280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79" y="2240280"/>
            <a:ext cx="45720" cy="7132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Interactive Streamlit demo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79" y="3108960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79" y="3108960"/>
            <a:ext cx="45720" cy="7132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4612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13 industry scenarios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79" y="3977639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79" y="3977639"/>
            <a:ext cx="45720" cy="7132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9 platform pages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79" y="4846320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79" y="4846320"/>
            <a:ext cx="45720" cy="7132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98348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Compliance dashboards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1097280"/>
            <a:ext cx="274320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46120" y="1097280"/>
            <a:ext cx="2743200" cy="5029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10972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Phase 2
3-6 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94"/>
                </a:solidFill>
                <a:latin typeface="Segoe UI"/>
              </a:rPr>
              <a:t>MVP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2240280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37560" y="2240280"/>
            <a:ext cx="45720" cy="7132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237744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Production detection engine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7560" y="3108960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37560" y="3108960"/>
            <a:ext cx="45720" cy="7132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324612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Live API gateway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560" y="3977639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37560" y="3977639"/>
            <a:ext cx="45720" cy="7132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411480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3 enterprise connectors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37560" y="4846320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37560" y="4846320"/>
            <a:ext cx="45720" cy="7132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0" y="498348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First paying pilot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1097280"/>
            <a:ext cx="274320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2200" y="1097280"/>
            <a:ext cx="274320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200" y="10972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Phase 3
6-12 Mo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  <a:latin typeface="Segoe UI"/>
              </a:rPr>
              <a:t>Growth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2240280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2240280"/>
            <a:ext cx="45720" cy="7132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237744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50+ enterprise connectors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3108960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63640" y="3108960"/>
            <a:ext cx="45720" cy="7132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324612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SOC 2 Type II cert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977639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3640" y="3977639"/>
            <a:ext cx="45720" cy="7132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11480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Multi-region deploy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4846320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63640" y="4846320"/>
            <a:ext cx="45720" cy="7132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498348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Self-serve onboarding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98280" y="1097280"/>
            <a:ext cx="274320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098280" y="1097280"/>
            <a:ext cx="2743200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98280" y="10972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Phase 4
12-24 Mo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972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E44AD"/>
                </a:solidFill>
                <a:latin typeface="Segoe UI"/>
              </a:rPr>
              <a:t>Scale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89720" y="2240280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189720" y="2240280"/>
            <a:ext cx="45720" cy="71323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26880" y="237744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EU AI Act cert program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89720" y="3108960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189720" y="3108960"/>
            <a:ext cx="45720" cy="71323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26880" y="324612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Federated learning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89720" y="3977639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189720" y="3977639"/>
            <a:ext cx="45720" cy="71323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26880" y="411480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Third-party module marketplace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89720" y="4846320"/>
            <a:ext cx="2560320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189720" y="4846320"/>
            <a:ext cx="45720" cy="71323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0" y="498348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Series 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Live Demo — 13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Real hallucinations. Real detection. Real-time blocking.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303520" cy="34747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720" y="1005840"/>
            <a:ext cx="2286000" cy="34747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83879" y="1005840"/>
            <a:ext cx="1645920" cy="34747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0058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0058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417320"/>
            <a:ext cx="53035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2286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16459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5087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BFSI — Mortgage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15087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18%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15087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Segoe UI"/>
              </a:rPr>
              <a:t>BLOCK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039112"/>
            <a:ext cx="530352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60720" y="2039112"/>
            <a:ext cx="228600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2039112"/>
            <a:ext cx="164592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1305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BFSI — Insurance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22%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13055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Segoe UI"/>
              </a:rPr>
              <a:t>BLOCK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660904"/>
            <a:ext cx="53035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720" y="2660904"/>
            <a:ext cx="2286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79" y="2660904"/>
            <a:ext cx="16459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75234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BFSI — Wealth Mgmt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275234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31%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275234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Segoe UI"/>
              </a:rPr>
              <a:t>BLOCK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282696"/>
            <a:ext cx="530352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60720" y="3282696"/>
            <a:ext cx="228600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3282696"/>
            <a:ext cx="164592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37413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Healthcare — Drug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337413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337413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Segoe UI"/>
              </a:rPr>
              <a:t>BLOCK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904488"/>
            <a:ext cx="53035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60720" y="3904488"/>
            <a:ext cx="2286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83879" y="3904488"/>
            <a:ext cx="16459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399592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Healthcare — Auth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399592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29%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399592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Segoe UI"/>
              </a:rPr>
              <a:t>BLOCK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526280"/>
            <a:ext cx="530352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760720" y="4526280"/>
            <a:ext cx="228600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83879" y="4526280"/>
            <a:ext cx="164592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46177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Legal — Litigation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0" y="46177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79" y="46177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Segoe UI"/>
              </a:rPr>
              <a:t>BLOCK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148072"/>
            <a:ext cx="53035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760720" y="5148072"/>
            <a:ext cx="2286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83879" y="5148072"/>
            <a:ext cx="16459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52395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Legal — Contract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20" y="5239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35%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79" y="523951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Segoe UI"/>
              </a:rPr>
              <a:t>BLOCK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55080" y="1417320"/>
            <a:ext cx="530352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750040" y="1417320"/>
            <a:ext cx="228600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4173200" y="1417320"/>
            <a:ext cx="164592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40" y="15087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Enterprise — HR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750040" y="15087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C12"/>
                </a:solidFill>
                <a:latin typeface="Segoe UI"/>
              </a:rPr>
              <a:t>42%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173200" y="15087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C12"/>
                </a:solidFill>
                <a:latin typeface="Segoe UI"/>
              </a:rPr>
              <a:t>FLAG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55080" y="2039112"/>
            <a:ext cx="53035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750040" y="2039112"/>
            <a:ext cx="2286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4173200" y="2039112"/>
            <a:ext cx="16459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92240" y="21305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Enterprise — IT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750040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C12"/>
                </a:solidFill>
                <a:latin typeface="Segoe UI"/>
              </a:rPr>
              <a:t>38%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173200" y="213055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C12"/>
                </a:solidFill>
                <a:latin typeface="Segoe UI"/>
              </a:rPr>
              <a:t>FLAG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55080" y="2660904"/>
            <a:ext cx="530352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1750040" y="2660904"/>
            <a:ext cx="228600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4173200" y="2660904"/>
            <a:ext cx="164592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92240" y="275234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Manufacturing — QC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750040" y="275234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C12"/>
                </a:solidFill>
                <a:latin typeface="Segoe UI"/>
              </a:rPr>
              <a:t>55%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173200" y="275234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C12"/>
                </a:solidFill>
                <a:latin typeface="Segoe UI"/>
              </a:rPr>
              <a:t>FLAG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3282696"/>
            <a:ext cx="53035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750040" y="3282696"/>
            <a:ext cx="2286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4173200" y="3282696"/>
            <a:ext cx="16459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92240" y="337413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Retail — Product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750040" y="337413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C12"/>
                </a:solidFill>
                <a:latin typeface="Segoe UI"/>
              </a:rPr>
              <a:t>61%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4173200" y="337413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C12"/>
                </a:solidFill>
                <a:latin typeface="Segoe UI"/>
              </a:rPr>
              <a:t>FLAG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55080" y="3904488"/>
            <a:ext cx="530352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1750040" y="3904488"/>
            <a:ext cx="228600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4173200" y="3904488"/>
            <a:ext cx="164592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92240" y="399592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Telecom — Billing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750040" y="399592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27%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173200" y="399592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Segoe UI"/>
              </a:rPr>
              <a:t>BLOCK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55080" y="4526280"/>
            <a:ext cx="53035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750040" y="4526280"/>
            <a:ext cx="2286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4173200" y="4526280"/>
            <a:ext cx="16459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92240" y="46177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Government — Benefits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750040" y="46177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19%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4173200" y="46177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Segoe UI"/>
              </a:rPr>
              <a:t>BLOCK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Segoe UI"/>
              </a:rPr>
              <a:t>TrustLayer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8F4FD"/>
                </a:solidFill>
                <a:latin typeface="Segoe UI"/>
              </a:rPr>
              <a:t>Enterprise AI Reliability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200400"/>
            <a:ext cx="7589520" cy="4572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4A3B8"/>
                </a:solidFill>
                <a:latin typeface="Segoe UI"/>
              </a:rPr>
              <a:t>Every day without AI reliability controls is a day you're exposed.
Exposed to customer harm. Regulatory fines. Reputation damage.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4480560"/>
            <a:ext cx="30175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4480560"/>
            <a:ext cx="3017520" cy="38404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48056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919472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Segoe UI"/>
              </a:rPr>
              <a:t>8 parallel algorithms,
92% catch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4480560"/>
            <a:ext cx="30175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4480560"/>
            <a:ext cx="3017520" cy="38404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48056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Prevent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919472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Segoe UI"/>
              </a:rPr>
              <a:t>Real-time blocking
before harm occurs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0" y="4480560"/>
            <a:ext cx="30175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80" y="4480560"/>
            <a:ext cx="3017520" cy="38404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448056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Govern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919472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Segoe UI"/>
              </a:rPr>
              <a:t>EU AI Act ready,
audit trail included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309360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Built for the industries that cannot afford to get it wrong.  |  Canada Hackathon 2026 Hackathon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