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640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TrustLayer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DD8E6"/>
                </a:solidFill>
              </a:rPr>
              <a:t>Enterprise AI Reliability &amp; Hallucination Detection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80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BBDD"/>
                </a:solidFill>
              </a:rPr>
              <a:t>Canada Hackathon 2026  |  Anthropic Claude + OpenAI GPT-4o  |  Version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290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699BB"/>
                </a:solidFill>
              </a:rPr>
              <a:t>6 Tabs  ·  8 Detection Techniques  ·  Dual-LLM Cross-Validation  ·  Human Review Queue  ·  Audit 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89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FA500"/>
                </a:solidFill>
              </a:rPr>
              <a:t>Detect · Prevent · Govern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DD8E6"/>
                </a:solidFill>
              </a:rPr>
              <a:t>AI hallucinations cause real enterprise harm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3566160" cy="42062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864"/>
                </a:solidFill>
              </a:rPr>
              <a:t>Banking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4884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Chatbot quotes 4.5% mortgage
Actual: 6.85% APR
Regulatory violation + customer loss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463040"/>
            <a:ext cx="3566160" cy="42062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6002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864"/>
                </a:solidFill>
              </a:rPr>
              <a:t>Healthcare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14884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AI recommends 1000mg Metformin
Correct dose: 500mg
Patient safety 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463040"/>
            <a:ext cx="3566160" cy="42062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6002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864"/>
                </a:solidFill>
              </a:rPr>
              <a:t>Legal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14884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AI cites non-existent court case
Submitted in real filing
Attorney sanctioned (2023)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97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2222"/>
                </a:solidFill>
              </a:rPr>
              <a:t>No existing tool catches these in real time, before the customer reads them.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TrustLayer AI — Complete Solution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DD8E6"/>
                </a:solidFill>
              </a:rPr>
              <a:t>Real-time interception · Dual-LLM validation · Human-in-the-loop 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554480"/>
            <a:ext cx="2011680" cy="1188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Customer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21945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Submits query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920240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F3864"/>
                </a:solidFill>
              </a:rPr>
              <a:t>-&gt;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2624328" y="1554480"/>
            <a:ext cx="2011680" cy="1188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24328" y="16916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Banking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4328" y="21945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Enterprise chatbot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1920240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F3864"/>
                </a:solidFill>
              </a:rPr>
              <a:t>-&gt;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0056" y="1554480"/>
            <a:ext cx="2011680" cy="1188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0056" y="16916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Claude LLM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0056" y="21945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Generates 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31736" y="1920240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F3864"/>
                </a:solidFill>
              </a:rPr>
              <a:t>-&gt;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15784" y="1554480"/>
            <a:ext cx="2011680" cy="1188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15784" y="16916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TrustLayer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15784" y="21945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Intercepts + scores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27464" y="1920240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F3864"/>
                </a:solidFill>
              </a:rPr>
              <a:t>-&gt;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11512" y="1554480"/>
            <a:ext cx="2011680" cy="1188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11512" y="16916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Policy
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11512" y="21945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PASS/FLAG/BLOCK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3063240"/>
            <a:ext cx="3108960" cy="1554480"/>
          </a:xfrm>
          <a:prstGeom prst="rect">
            <a:avLst/>
          </a:prstGeom>
          <a:solidFill>
            <a:srgbClr val="00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1546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749039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&gt;= 75%  Risk &lt; 30
Delivered to customer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1999" y="3063240"/>
            <a:ext cx="3108960" cy="155448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1999" y="31546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FLAG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1999" y="3749039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50-74%  Risk 30-59
Human Review Queue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1038" y="3063240"/>
            <a:ext cx="3108960" cy="155448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38" y="31546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BLOCK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38" y="3749039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&lt; 50%  Risk &gt;= 60
Safe fallback sent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846320"/>
            <a:ext cx="11612880" cy="100584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9377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500"/>
                </a:solidFill>
              </a:rPr>
              <a:t>NEW in v2: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45920" y="493776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DD8E6"/>
                </a:solidFill>
              </a:rPr>
              <a:t>FLAG -&gt; Review Queue (human reviewer: Approve / Reject / Escalate)   |   BLOCK -&gt; Safe Fallback + Blocked Log   |   Full Compliance Audit Trail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8 Detection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DD8E6"/>
                </a:solidFill>
              </a:rPr>
              <a:t>Parallel analysis — every response scored on all 8 dimensions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5577840" cy="10972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594360" cy="10972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709928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6304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Semantic Entropy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9280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Vague or incoherent statements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679192"/>
            <a:ext cx="5577840" cy="10972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679192"/>
            <a:ext cx="594360" cy="10972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97180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72491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Self-Consistency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1546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Internal contradictions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41064"/>
            <a:ext cx="5577840" cy="10972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941064"/>
            <a:ext cx="594360" cy="10972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233672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986784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Source Verification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41655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Fabricated citations/sources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202936"/>
            <a:ext cx="5577840" cy="10972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5202936"/>
            <a:ext cx="594360" cy="10972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5495544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248656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Enterprise Grounding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678424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Contradicts authoritative data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417320"/>
            <a:ext cx="5577840" cy="10972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1417320"/>
            <a:ext cx="594360" cy="10972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1709928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146304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Claim Classification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189280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Unsubstantiated factual claims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2679192"/>
            <a:ext cx="5577840" cy="10972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2679192"/>
            <a:ext cx="594360" cy="10972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297180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8%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272491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Pattern Recognition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31546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Known hallucination patterns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3941064"/>
            <a:ext cx="5577840" cy="10972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3941064"/>
            <a:ext cx="594360" cy="10972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4233672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3986784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Temporal Consistency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441655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Outdated info as current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5202936"/>
            <a:ext cx="5577840" cy="10972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5202936"/>
            <a:ext cx="594360" cy="10972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5495544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7%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5248656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Numerical Validation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5678424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Implausible numbers/rates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Claude + GPT-4o Cross-Validation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DD8E6"/>
                </a:solidFill>
              </a:rPr>
              <a:t>Disagreement between models is itself a risk signal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5394960" cy="5212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813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</a:rPr>
              <a:t>Agreement Score Formula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65960"/>
            <a:ext cx="502920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Action Match  (50%)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231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Same PASS/FLAG/BLOCK -&gt; 1.0 else 0.0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46120"/>
            <a:ext cx="502920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29184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Confidence Gap  (30%)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7033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1.0 - |Claude_conf - GPT_conf| / 100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526280"/>
            <a:ext cx="502920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57200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Technique Divergence  (20%)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834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1.0 - |techniques_diff| / 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371600"/>
            <a:ext cx="5943600" cy="2651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481328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</a:rPr>
              <a:t>Agreement Thresholds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920240"/>
            <a:ext cx="1005840" cy="822960"/>
          </a:xfrm>
          <a:prstGeom prst="rect">
            <a:avLst/>
          </a:prstGeom>
          <a:solidFill>
            <a:srgbClr val="00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20574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&gt;= 85%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192024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4444"/>
                </a:solidFill>
              </a:rPr>
              <a:t>Strong Agreement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2322576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</a:rPr>
              <a:t>High reliability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2898648"/>
            <a:ext cx="1005840" cy="8229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303580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65-84%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2898648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4444"/>
                </a:solidFill>
              </a:rPr>
              <a:t>Moderate Agreement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3300984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</a:rPr>
              <a:t>Human review recommended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3877056"/>
            <a:ext cx="1005840" cy="82296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401421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&lt; 65%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3877056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4444"/>
                </a:solidFill>
              </a:rPr>
              <a:t>Significant Disagreement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427939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</a:rPr>
              <a:t>Escalate: FLAG -&gt; BLOCK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4160520"/>
            <a:ext cx="5943600" cy="2423160"/>
          </a:xfrm>
          <a:prstGeom prst="rect">
            <a:avLst/>
          </a:prstGeom>
          <a:solidFill>
            <a:srgbClr val="140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425196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A500"/>
                </a:solidFill>
              </a:rPr>
              <a:t>v2 — Escalation Routing Fix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4663440"/>
            <a:ext cx="5577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DD8E6"/>
                </a:solidFill>
              </a:rPr>
              <a:t>When disagreement escalates FLAG -&gt; BLOCK, the item
now appears in BOTH the Review Queue AND the blocked log.
Review card shows: Claude raw decision + Consensus badge
+ red escalation warning banner so reviewer has full context.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Enterprise Flow Simulation  (NEW Tab)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DD8E6"/>
                </a:solidFill>
              </a:rPr>
              <a:t>Full middleware interception — see every stage of the request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3749039" cy="50292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3749039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874519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Banking Chatbot — Raw Response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2316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Exact text generated by Claude LLM
before any interception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886200"/>
            <a:ext cx="3566160" cy="182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3977639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</a:rPr>
              <a:t>What would have reached
the customer WITHOUT TrustLayer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371600"/>
            <a:ext cx="3749039" cy="50292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59" y="1371600"/>
            <a:ext cx="3749039" cy="41148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399" y="1874519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B2D8B"/>
                </a:solidFill>
              </a:rPr>
              <a:t>TrustLayer Intercept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399" y="242316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Decision badge · confidence % · risk score
Issues caught listed below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399" y="3886200"/>
            <a:ext cx="3566160" cy="18288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399" y="3977639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</a:rPr>
              <a:t>Why the decision was made
and which claims failed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598" y="1371600"/>
            <a:ext cx="3749039" cy="50292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598" y="1371600"/>
            <a:ext cx="3749039" cy="411480"/>
          </a:xfrm>
          <a:prstGeom prst="rect">
            <a:avLst/>
          </a:prstGeom>
          <a:solidFill>
            <a:srgbClr val="00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38" y="1874519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B45"/>
                </a:solidFill>
              </a:rPr>
              <a:t>What Customer Receives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38" y="242316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PASS: exact AI response
FLAG: holding message
BLOCK: safe fallback text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38" y="3886200"/>
            <a:ext cx="3566160" cy="18288"/>
          </a:xfrm>
          <a:prstGeom prst="rect">
            <a:avLst/>
          </a:prstGeom>
          <a:solidFill>
            <a:srgbClr val="00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38" y="3977639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</a:rPr>
              <a:t>The final customer experience
after governance is applied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715000"/>
            <a:ext cx="11612880" cy="822960"/>
          </a:xfrm>
          <a:prstGeom prst="rect">
            <a:avLst/>
          </a:prstGeom>
          <a:solidFill>
            <a:srgbClr val="140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8064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D8E6"/>
                </a:solidFill>
              </a:rPr>
              <a:t>BLOCK decisions show a side-by-side panel: AI response (blocked, never shown) vs safe fallback (what customer received). Checklist confirms: customer protected, content not delivered, logged for audit.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Human Review Queue  (NEW Tab)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DD8E6"/>
                </a:solidFill>
              </a:rPr>
              <a:t>Full human-in-the-loop compliance workflow for FLAG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5669280" cy="5212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8132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Queue Item Card — what the reviewer sees: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  •  Customer query text and industry module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  •  Unfiltered AI response (what the chatbot generated)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  •  TrustLayer issues list — specific failing claims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  •  Claude raw decision badge + Consensus badge (if escalated by cross-val)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  •  Red escalation warning when FLAG was promoted to BLOCK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  •  Confidence % and risk score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  •  Optional reviewer note field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371600"/>
            <a:ext cx="5760720" cy="5212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48132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Reviewer Actions: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965960"/>
            <a:ext cx="1371600" cy="1188720"/>
          </a:xfrm>
          <a:prstGeom prst="rect">
            <a:avLst/>
          </a:prstGeom>
          <a:solidFill>
            <a:srgbClr val="00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28600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Approve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196596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Response cleared for delivery
Audit log: FLAG -&gt; PASS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383280"/>
            <a:ext cx="1371600" cy="118872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70332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Reject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338328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Escalates to BLOCK
Safe fallback triggered
Audit log: FLAG -&gt; BLOCK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4800600"/>
            <a:ext cx="1371600" cy="1188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51206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Escalate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480060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Routes to senior compliance
Audit log: FLAG -&gt; ESCALATED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-250832218680"/>
            <a:ext cx="-167219894160" cy="54864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5779008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D8E6"/>
                </a:solidFill>
              </a:rPr>
              <a:t>Compliance Audit Log: every decision recorded with timestamp, reviewer, original decision, final decision, query. CSV export for regulators.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Industry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DD8E6"/>
                </a:solidFill>
              </a:rPr>
              <a:t>5 pre-configured modules with authoritative grounding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417320"/>
            <a:ext cx="2194560" cy="47548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417320"/>
            <a:ext cx="2194560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201168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444444"/>
                </a:solidFill>
              </a:rPr>
              <a:t>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27432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3864"/>
                </a:solidFill>
              </a:rPr>
              <a:t>Banking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320040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C2222"/>
                </a:solidFill>
              </a:rPr>
              <a:t>Risk: 1.3x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61188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APR rates
LTV rules
Approval criteria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40" y="1417320"/>
            <a:ext cx="2194560" cy="47548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06040" y="1417320"/>
            <a:ext cx="2194560" cy="50292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06040" y="201168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444444"/>
                </a:solidFill>
              </a:rPr>
              <a:t>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27432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3864"/>
                </a:solidFill>
              </a:rPr>
              <a:t>Healthcare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320040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C2222"/>
                </a:solidFill>
              </a:rPr>
              <a:t>Risk: 1.5x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361188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FDA dosing
Contraindications
Drug interactions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83480" y="1417320"/>
            <a:ext cx="2194560" cy="47548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83480" y="1417320"/>
            <a:ext cx="2194560" cy="50292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83480" y="201168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444444"/>
                </a:solidFill>
              </a:rPr>
              <a:t>⚖️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27432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3864"/>
                </a:solidFill>
              </a:rPr>
              <a:t>Legal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320040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C2222"/>
                </a:solidFill>
              </a:rPr>
              <a:t>Risk: 1.4x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361188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Case law
Jurisdictions
Westlaw flags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60920" y="1417320"/>
            <a:ext cx="2194560" cy="47548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60920" y="1417320"/>
            <a:ext cx="219456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60920" y="201168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444444"/>
                </a:solidFill>
              </a:rPr>
              <a:t>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27432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3864"/>
                </a:solidFill>
              </a:rPr>
              <a:t>HR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320040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C2222"/>
                </a:solidFill>
              </a:rPr>
              <a:t>Risk: 1.1x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361188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PTO accrual
Overtime rules
Rollover policy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38360" y="1417320"/>
            <a:ext cx="2194560" cy="47548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738360" y="1417320"/>
            <a:ext cx="2194560" cy="50292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38360" y="201168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444444"/>
                </a:solidFill>
              </a:rPr>
              <a:t>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38360" y="27432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3864"/>
                </a:solidFill>
              </a:rPr>
              <a:t>General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320040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C2222"/>
                </a:solidFill>
              </a:rPr>
              <a:t>Risk: 1.0x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800" y="361188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Custom queries
No domain grounding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Technology Stack &amp; Compliance Coverage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5486400" cy="5212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8132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</a:rP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5B6"/>
                </a:solidFill>
              </a:rPr>
              <a:t>  Detection: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192024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Claude Sonnet (claude-sonnet-4-6)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9464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5B6"/>
                </a:solidFill>
              </a:rPr>
              <a:t>  Cross-Validation: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569464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OpenAI GPT-4o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1868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5B6"/>
                </a:solidFill>
              </a:rPr>
              <a:t>  UI: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3218688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Streamlit + Plotly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6791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5B6"/>
                </a:solidFill>
              </a:rPr>
              <a:t>  Data Models: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3867912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Pydantic v2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17136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5B6"/>
                </a:solidFill>
              </a:rPr>
              <a:t>  PDF Reports: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4517136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fpdf2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1663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5B6"/>
                </a:solidFill>
              </a:rPr>
              <a:t>  Deployment: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516636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Streamlit Cloud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815584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5B6"/>
                </a:solidFill>
              </a:rPr>
              <a:t>  Language: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5815584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Python 3.10+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1371600"/>
            <a:ext cx="5852160" cy="5212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4813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</a:rPr>
              <a:t>Compliance Coverage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920240"/>
            <a:ext cx="539496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196596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</a:rPr>
              <a:t>EU AI Act 2024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196596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8B45"/>
                </a:solidFill>
              </a:rPr>
              <a:t>94%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39572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</a:rPr>
              <a:t>Risk classification, human oversight
(Review Queue), transparency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063240"/>
            <a:ext cx="539496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310896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</a:rPr>
              <a:t>NIST AI RMF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310896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8B45"/>
                </a:solidFill>
              </a:rPr>
              <a:t>100%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53872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</a:rPr>
              <a:t>GOVERN, MAP, MEASURE, MANAGE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4206240"/>
            <a:ext cx="539496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425196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</a:rPr>
              <a:t>ISO 42001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425196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8B45"/>
                </a:solidFill>
              </a:rPr>
              <a:t>High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68172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</a:rPr>
              <a:t>AI management system controls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5349240"/>
            <a:ext cx="539496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539496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</a:rPr>
              <a:t>SOC 2 Type II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539496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8B45"/>
                </a:solidFill>
              </a:rPr>
              <a:t>Partial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582472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</a:rPr>
              <a:t>Audit log, access control, data integrity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Live Demo Script  (5 minutes)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DD8E6"/>
                </a:solidFill>
              </a:rPr>
              <a:t>Run these in order for maximum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777240" cy="868680"/>
          </a:xfrm>
          <a:prstGeom prst="rect">
            <a:avLst/>
          </a:prstGeom>
          <a:solidFill>
            <a:srgbClr val="00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618488"/>
            <a:ext cx="777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1/5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1417320"/>
            <a:ext cx="11338560" cy="868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46304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</a:rPr>
              <a:t>Q: What documents do I need for a mortgage?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46304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B45"/>
                </a:solidFill>
              </a:rPr>
              <a:t>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463040"/>
            <a:ext cx="4023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</a:rPr>
              <a:t>Show system correctly trusting a safe response — baseline trust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450591"/>
            <a:ext cx="777240" cy="86868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651759"/>
            <a:ext cx="777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2/5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2450591"/>
            <a:ext cx="11338560" cy="868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2496311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</a:rPr>
              <a:t>Q: What is your current 30-year mortgage rate?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496311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2222"/>
                </a:solidFill>
              </a:rPr>
              <a:t>FLAG / BLOCK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496311"/>
            <a:ext cx="4023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</a:rPr>
              <a:t>AI fabricates a rate — grounding detects deviation from 6.85% APR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483862"/>
            <a:ext cx="777240" cy="86868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685030"/>
            <a:ext cx="777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3/5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3483862"/>
            <a:ext cx="11338560" cy="868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352958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</a:rPr>
              <a:t>Q: What promotions do you have this month?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52958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2222"/>
                </a:solidFill>
              </a:rPr>
              <a:t>BLOCK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529582"/>
            <a:ext cx="4023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</a:rPr>
              <a:t>AI invents a promotion — grounding confirms none are active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517133"/>
            <a:ext cx="777240" cy="8686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4718301"/>
            <a:ext cx="777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4/5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4517133"/>
            <a:ext cx="11338560" cy="868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34440" y="4562853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</a:rPr>
              <a:t>Go to Enterprise Flow tab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4562853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5B6"/>
                </a:solidFill>
              </a:rPr>
              <a:t>See all 3 panels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562853"/>
            <a:ext cx="4023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</a:rPr>
              <a:t>Show raw AI response vs what customer saw vs safe fallback side-by-side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550404"/>
            <a:ext cx="777240" cy="86868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5751572"/>
            <a:ext cx="777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5/5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5550404"/>
            <a:ext cx="11338560" cy="868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34440" y="559612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</a:rPr>
              <a:t>Go to Review Queue tab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559612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500"/>
                </a:solidFill>
              </a:rPr>
              <a:t>Action FLAG item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5596124"/>
            <a:ext cx="4023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</a:rPr>
              <a:t>Demonstrate Approve / Reject / Escalate + audit log entry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88952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Try It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A500"/>
                </a:solidFill>
              </a:rPr>
              <a:t>Demo Credentials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1828800"/>
            <a:ext cx="228600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920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828800"/>
            <a:ext cx="25603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9202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trustlayer2026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828800"/>
            <a:ext cx="475488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19202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Full access — all 6 tabs, batch test, review queue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2542032"/>
            <a:ext cx="2286000" cy="566928"/>
          </a:xfrm>
          <a:prstGeom prst="rect">
            <a:avLst/>
          </a:prstGeom>
          <a:solidFill>
            <a:srgbClr val="1A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63347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demo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2542032"/>
            <a:ext cx="2560320" cy="566928"/>
          </a:xfrm>
          <a:prstGeom prst="rect">
            <a:avLst/>
          </a:prstGeom>
          <a:solidFill>
            <a:srgbClr val="1A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26334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demo123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2542032"/>
            <a:ext cx="4754880" cy="566928"/>
          </a:xfrm>
          <a:prstGeom prst="rect">
            <a:avLst/>
          </a:prstGeom>
          <a:solidFill>
            <a:srgbClr val="1A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26334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Standard user — all modules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3255264"/>
            <a:ext cx="2286000" cy="566928"/>
          </a:xfrm>
          <a:prstGeom prst="rect">
            <a:avLst/>
          </a:prstGeom>
          <a:solidFill>
            <a:srgbClr val="1A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3346704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judge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0" y="3255264"/>
            <a:ext cx="2560320" cy="566928"/>
          </a:xfrm>
          <a:prstGeom prst="rect">
            <a:avLst/>
          </a:prstGeom>
          <a:solidFill>
            <a:srgbClr val="1A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3346704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hackathon2026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3255264"/>
            <a:ext cx="4754880" cy="566928"/>
          </a:xfrm>
          <a:prstGeom prst="rect">
            <a:avLst/>
          </a:prstGeom>
          <a:solidFill>
            <a:srgbClr val="1A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334670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Hackathon panel access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892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ADD8E6"/>
                </a:solidFill>
              </a:rPr>
              <a:t>streamlit run streamlit_app.py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440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BBDD"/>
                </a:solidFill>
              </a:rPr>
              <a:t>github.com/ajittgosavii/trustlayer-ai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6263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A500"/>
                </a:solidFill>
              </a:rPr>
              <a:t>TrustLayer AI  —  Detect · Prevent · Govern  |  Canada Hackathon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