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HACKATHON SUBMISSION  |  INFOSYS INCUBATOR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4FD"/>
                </a:solidFill>
                <a:latin typeface="Segoe UI"/>
              </a:rPr>
              <a:t>Enterprise AI Reliability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The trust layer between your enterprise and AI.
Detect. Prevent. Govern.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914400"/>
            <a:ext cx="4937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914400"/>
            <a:ext cx="54864" cy="5029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$67.4B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Annual losses from AI hallucinations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$2.4M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45059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Average cost per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77%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36499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Enterprise leaders concerned about hallucinations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279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TrustLayer hallucination catch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&lt;100ms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51937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Real-time detection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Built for the industries that cannot afford to get it wrong.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AI hallucinations are causing measurable, costly, real-world harm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⚖️ 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Attorneys sanctioned for submitting fabricated case citations generated by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🏥 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systems recommending dangerous drug dosages not supported by clinical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🏦  Banking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Chatbots guaranteeing mortgage rates and promotions that do not exist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🏛️  Government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12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making unauthorized benefits eligibility determinations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338560" cy="502920"/>
          </a:xfrm>
          <a:prstGeom prst="rect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126480"/>
            <a:ext cx="54864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153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Segoe UI"/>
              </a:rPr>
              <a:t>Root Cause: AI providers have a conflict of interest — they cannot solve the problem they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TrustLayer AI — real-time hallucination detection, prevention, and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468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468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LLM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468880" cy="685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2468880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Verified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03120"/>
            <a:ext cx="34747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103120"/>
            <a:ext cx="3474720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786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Confidence ≥ 75%
Response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103120"/>
            <a:ext cx="34747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103120"/>
            <a:ext cx="34747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786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Confidence 50–74%
Routed to human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103120"/>
            <a:ext cx="34747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103120"/>
            <a:ext cx="34747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786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Confidence &lt; 50%
Blocked + fallback triggered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Key Differentiators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389120"/>
            <a:ext cx="45720" cy="5486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805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Sub-100ms latency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38912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389120"/>
            <a:ext cx="45720" cy="5486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4805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8 parallel detection algorithms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38912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389120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4805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Enterprise data grounding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2064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120640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212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8 industry-specific modules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512064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5120640"/>
            <a:ext cx="4572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5212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Built-in EU AI Act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512064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5120640"/>
            <a:ext cx="4572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5212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Works with any LLM — no lock-in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8 parallel detection techniques delivering &lt;100ms end-to-end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Detection 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05840"/>
            <a:ext cx="100584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005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005840"/>
            <a:ext cx="100584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005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493776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What It Catches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17320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5087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Semantic Entropy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45ms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Internal model uncertainty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65960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574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Self-Consistency Checking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120ms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57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Cross-query contradiction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14600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060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Source Citation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200ms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Real-time citation lookup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63239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154679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Enterprise Knowledge Grounding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154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154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150ms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154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Verified against your data 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1880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033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Claim Extraction &amp; Classification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35ms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Risk-tier classification of assertions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60520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251959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Hallucination Pattern Recognition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251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79%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251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25ms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519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Trained on curated failure datasets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709159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800599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Temporal Consistency Checking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48005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8005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40ms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8005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Date-sensitive claim 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257800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3492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Numerical Claim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5349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349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80ms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349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Rate, dosage &amp; threshold verification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Overall Catch Rate: 92%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False Positive Rate: &lt;3%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Pipeline Latency: &lt;100ms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Uptime SLA: 99.9%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Industry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Specialized detection for 8 verticals — 13 built-in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83464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BFSI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rates, unauthorized eligibility, regulatory violations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272" y="1097280"/>
            <a:ext cx="283464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Drug dosing errors, dangerous contraindications, unauthorized approvals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097280"/>
            <a:ext cx="283464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Legal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case citations, non-existent statutes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17736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17736" y="1097280"/>
            <a:ext cx="2834640" cy="34747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HR policies, incorrect IT guidance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651760"/>
            <a:ext cx="283464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Manufacturing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QC records, spec violations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9272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2651760"/>
            <a:ext cx="2834640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Unverified pricing, availability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8504" y="2651760"/>
            <a:ext cx="2834640" cy="347472"/>
          </a:xfrm>
          <a:prstGeom prst="rect">
            <a:avLst/>
          </a:prstGeom>
          <a:solidFill>
            <a:srgbClr val="27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Telecom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Unauthorized account actions, billing errors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17736" y="2651760"/>
            <a:ext cx="28346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Government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Unauthorized eligibility determinations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89788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Example — Healthcare:  AI recommends metformin 1,000mg twice daily (FDA approved: 500mg), cites grapefruit interaction (fabricated), misses alcohol contraindication.  Confidence: 6%.  Action: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Compliance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One platform — four major regulatory frameworks covered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73736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1737360"/>
            <a:ext cx="7306056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EU AI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3416" y="17190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647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Aug 2026 enforcement — penalties up to €35M or 7% global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297180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2971800"/>
            <a:ext cx="6917436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NIST AI RMF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4796" y="29535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89%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99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Govern, Map, Measure, Manage functions fully addressed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20624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4206240"/>
            <a:ext cx="6373368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49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ISO/IEC 42001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4187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336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International AI management system standard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4632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544068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5440680"/>
            <a:ext cx="7539227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983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SOC 2 Type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6588" y="54223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97%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6811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Availability, processing integrity, confidentiality controls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080760"/>
            <a:ext cx="113385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6080760"/>
            <a:ext cx="54864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Every AI interaction generates an immutable structured audit log — interaction ID, query, response, all 8 detection scores, action taken, compliance tags. Board-ready reporting at a click.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Integration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Works with any LLM provider — 50+ enterprise connectors — zero vendor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LLM PROVIDERS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OpenAI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Anthropic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Google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Azure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AWS Bedrock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Meta Llama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Mistral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Open-source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88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Segoe UI"/>
              </a:rPr>
              <a:t>ENTERPRISE CONNECTORS (50+)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Salesforce, HubSpot, Dynamics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ERP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SAP, Oracle, Workday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ITSM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ServiceNow, Jira, Zendesk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HRIS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Workday, BambooHR, ADP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Legal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Westlaw, LexisNexis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Healthcare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6499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Epic, Cerner, FDA APIs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Financial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Bloomberg, Reuters, Core Banking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400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Identity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Active Directory, Okta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897880"/>
            <a:ext cx="11338560" cy="73152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SDK (hours)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API Gateway (zero code)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On-Premise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SaaS (minutes)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ROI &amp;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The math is simple — preventing one incident pays for TrustLayer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Without TrustLayer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Monthly AI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Industry avg hallucination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~30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Critical incidents 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$2,400,000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Cost per critical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~$72M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Annual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55778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With TrustLayer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93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Hallucinations caught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~2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70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Incidents per year (remaining)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$66M+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47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Losses prevented annually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~$500K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25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TrustLayer annual cost (enterprise)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&gt;400%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Return on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97880"/>
            <a:ext cx="11338560" cy="68580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897880"/>
            <a:ext cx="54864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Additional upside: Avoid EU AI Act fines up to €35M (August 2026) + reputation protection + regulatory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From hackathon demo to enterprise-scale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1
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FF"/>
                </a:solidFill>
                <a:latin typeface="Segoe UI"/>
              </a:rPr>
              <a:t>Hackathon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79" y="2240280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Interactive Streamlit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79" y="3108960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13 industry scenarios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79" y="3977639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9 platform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79" y="4846320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Compliance dashboards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2
3-6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Segoe UI"/>
              </a:rPr>
              <a:t>MVP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2240280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Production detection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108960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Live API gateway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977639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3 enterprise connectors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7560" y="4846320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First paying pilot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3
6-12 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Segoe UI"/>
              </a:rPr>
              <a:t>Growth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240280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50+ enterprise connectors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108960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SOC 2 Type II cert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3977639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Multi-region deploy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4846320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Self-serve onboarding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98280" y="1097280"/>
            <a:ext cx="27432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4
12-24 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Segoe UI"/>
              </a:rPr>
              <a:t>Scale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89720" y="2240280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EU AI Act cert program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9720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89720" y="3108960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Federated learning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89720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89720" y="3977639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Third-party module marketplace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89720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89720" y="4846320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Series 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Live Demo — 13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Real hallucinations. Real detection. Real-time blocking.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1005840"/>
            <a:ext cx="228600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83879" y="1005840"/>
            <a:ext cx="16459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005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005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508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BFSI — Mortgage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508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508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39112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2039112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039112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30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BFSI —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1305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60904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2660904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2660904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523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BFSI — Wealth Mgmt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523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31%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7523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82696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3282696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282696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3741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Healthcare — Drug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3741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3741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04488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3904488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3904488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995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Healthcare — 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9959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29%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39959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26280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720" y="4526280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79" y="4526280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617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Legal — Litigation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617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4617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148072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720" y="5148072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5148072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239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Legal — Contract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239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35%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52395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1417320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50040" y="1417320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173200" y="1417320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1508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Enterprise — HR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50040" y="1508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42%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73200" y="1508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2039112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50040" y="2039112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173200" y="2039112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2130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Enterprise — 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50040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38%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0" y="21305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55080" y="2660904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750040" y="2660904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4173200" y="2660904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27523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Manufacturing — QC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50040" y="27523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55%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73200" y="27523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3282696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750040" y="3282696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173200" y="3282696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33741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Retail — Product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50040" y="33741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61%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173200" y="33741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55080" y="3904488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750040" y="3904488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173200" y="3904488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92240" y="3995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Telecom — Billing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750040" y="39959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27%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173200" y="39959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4526280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750040" y="4526280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4173200" y="4526280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4617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Government — Benefits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750040" y="4617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19%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173200" y="4617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F4FD"/>
                </a:solidFill>
                <a:latin typeface="Segoe UI"/>
              </a:rPr>
              <a:t>Enterprise AI Reliability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200400"/>
            <a:ext cx="7589520" cy="457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Segoe UI"/>
              </a:rPr>
              <a:t>Every day without AI reliability controls is a day you're exposed.
Exposed to customer harm. Regulatory fines. Reputation damage.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480560"/>
            <a:ext cx="3017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3017520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91947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8 parallel algorithms,
92% catch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480560"/>
            <a:ext cx="3017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4480560"/>
            <a:ext cx="3017520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480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Prevent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91947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Real-time blocking
before harm occurs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4480560"/>
            <a:ext cx="3017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4480560"/>
            <a:ext cx="3017520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4480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91947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EU AI Act ready,
audit trail included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Built for the industries that cannot afford to get it wrong.  |  Infosys Incubator Hackathon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